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1" d="100"/>
          <a:sy n="111" d="100"/>
        </p:scale>
        <p:origin x="-11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Cold read</c:v>
                </c:pt>
              </c:strCache>
            </c:strRef>
          </c:tx>
          <c:spPr>
            <a:solidFill>
              <a:srgbClr val="F08B4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Route catalog</c:v>
                </c:pt>
                <c:pt idx="1">
                  <c:v>Quote response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2B-A147-BE7C-30D6EF5237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Warm read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Route catalog</c:v>
                </c:pt>
                <c:pt idx="1">
                  <c:v>Quote response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</c:v>
                </c:pt>
                <c:pt idx="1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2B-A147-BE7C-30D6EF5237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2492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1572768" cy="128016"/>
          </a:xfrm>
          <a:prstGeom prst="rect">
            <a:avLst/>
          </a:prstGeom>
          <a:solidFill>
            <a:srgbClr val="D9B45C"/>
          </a:solidFill>
          <a:ln w="12700">
            <a:solidFill>
              <a:srgbClr val="D9B45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658368" y="7680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B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SMARTBUS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15568"/>
            <a:ext cx="5943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9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 Integration Architecture</a:t>
            </a:r>
            <a:endParaRPr lang="en-US" sz="2995" dirty="0"/>
          </a:p>
        </p:txBody>
      </p:sp>
      <p:sp>
        <p:nvSpPr>
          <p:cNvPr id="5" name="Text 3"/>
          <p:cNvSpPr/>
          <p:nvPr/>
        </p:nvSpPr>
        <p:spPr>
          <a:xfrm>
            <a:off x="658368" y="2103120"/>
            <a:ext cx="5440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4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the original static ticketing website into a service-oriented system with Flowable orchestration, Kafka messaging, correlation state, layered caching, formal contracts, and bounded fault recovery.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3547872"/>
            <a:ext cx="1426464" cy="219456"/>
          </a:xfrm>
          <a:prstGeom prst="roundRect">
            <a:avLst>
              <a:gd name="adj" fmla="val 50000"/>
            </a:avLst>
          </a:prstGeom>
          <a:solidFill>
            <a:srgbClr val="D9B45C"/>
          </a:solidFill>
          <a:ln w="12700">
            <a:solidFill>
              <a:srgbClr val="D9B45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7" name="Text 5"/>
          <p:cNvSpPr/>
          <p:nvPr/>
        </p:nvSpPr>
        <p:spPr>
          <a:xfrm>
            <a:off x="768096" y="3557016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FLOWABLE BPMN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12848" y="3547872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Text 7"/>
          <p:cNvSpPr/>
          <p:nvPr/>
        </p:nvSpPr>
        <p:spPr>
          <a:xfrm>
            <a:off x="2322576" y="35570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RECOVERY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22192" y="3547872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1" name="Text 9"/>
          <p:cNvSpPr/>
          <p:nvPr/>
        </p:nvSpPr>
        <p:spPr>
          <a:xfrm>
            <a:off x="3931920" y="3557016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223760" y="914400"/>
            <a:ext cx="4279392" cy="4251960"/>
          </a:xfrm>
          <a:prstGeom prst="roundRect">
            <a:avLst>
              <a:gd name="adj" fmla="val 3871"/>
            </a:avLst>
          </a:prstGeom>
          <a:solidFill>
            <a:srgbClr val="173047"/>
          </a:solidFill>
          <a:ln w="12700">
            <a:solidFill>
              <a:srgbClr val="17304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7571232" y="11704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B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map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71232" y="1609344"/>
            <a:ext cx="1719072" cy="749808"/>
          </a:xfrm>
          <a:prstGeom prst="roundRect">
            <a:avLst>
              <a:gd name="adj" fmla="val 12195"/>
            </a:avLst>
          </a:prstGeom>
          <a:solidFill>
            <a:srgbClr val="1F8A8A">
              <a:alpha val="92000"/>
            </a:srgbClr>
          </a:solidFill>
          <a:ln w="1524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3"/>
          <p:cNvSpPr/>
          <p:nvPr/>
        </p:nvSpPr>
        <p:spPr>
          <a:xfrm>
            <a:off x="7735824" y="1773936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80960" y="192024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overview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71232" y="2542032"/>
            <a:ext cx="1719072" cy="749808"/>
          </a:xfrm>
          <a:prstGeom prst="roundRect">
            <a:avLst>
              <a:gd name="adj" fmla="val 12195"/>
            </a:avLst>
          </a:prstGeom>
          <a:solidFill>
            <a:srgbClr val="3A5A8A">
              <a:alpha val="92000"/>
            </a:srgbClr>
          </a:solidFill>
          <a:ln w="1524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Text 16"/>
          <p:cNvSpPr/>
          <p:nvPr/>
        </p:nvSpPr>
        <p:spPr>
          <a:xfrm>
            <a:off x="7735824" y="2706624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80960" y="28529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and services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71232" y="3474720"/>
            <a:ext cx="1719072" cy="749808"/>
          </a:xfrm>
          <a:prstGeom prst="roundRect">
            <a:avLst>
              <a:gd name="adj" fmla="val 12195"/>
            </a:avLst>
          </a:prstGeom>
          <a:solidFill>
            <a:srgbClr val="2A9D8F">
              <a:alpha val="92000"/>
            </a:srgbClr>
          </a:solidFill>
          <a:ln w="1524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Text 19"/>
          <p:cNvSpPr/>
          <p:nvPr/>
        </p:nvSpPr>
        <p:spPr>
          <a:xfrm>
            <a:off x="7735824" y="3639312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80960" y="378561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semantics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546336" y="1609344"/>
            <a:ext cx="1719072" cy="749808"/>
          </a:xfrm>
          <a:prstGeom prst="roundRect">
            <a:avLst>
              <a:gd name="adj" fmla="val 12195"/>
            </a:avLst>
          </a:prstGeom>
          <a:solidFill>
            <a:srgbClr val="F08B4F">
              <a:alpha val="92000"/>
            </a:srgbClr>
          </a:solidFill>
          <a:ln w="1524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4" name="Text 22"/>
          <p:cNvSpPr/>
          <p:nvPr/>
        </p:nvSpPr>
        <p:spPr>
          <a:xfrm>
            <a:off x="9710928" y="1773936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56064" y="192024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and recovery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46336" y="2542032"/>
            <a:ext cx="1719072" cy="749808"/>
          </a:xfrm>
          <a:prstGeom prst="roundRect">
            <a:avLst>
              <a:gd name="adj" fmla="val 12195"/>
            </a:avLst>
          </a:prstGeom>
          <a:solidFill>
            <a:srgbClr val="D9B45C">
              <a:alpha val="92000"/>
            </a:srgbClr>
          </a:solidFill>
          <a:ln w="15240">
            <a:solidFill>
              <a:srgbClr val="D9B45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7" name="Text 25"/>
          <p:cNvSpPr/>
          <p:nvPr/>
        </p:nvSpPr>
        <p:spPr>
          <a:xfrm>
            <a:off x="9710928" y="2706624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56064" y="28529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and caching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546336" y="3474720"/>
            <a:ext cx="1719072" cy="749808"/>
          </a:xfrm>
          <a:prstGeom prst="roundRect">
            <a:avLst>
              <a:gd name="adj" fmla="val 12195"/>
            </a:avLst>
          </a:prstGeom>
          <a:solidFill>
            <a:srgbClr val="D6654F">
              <a:alpha val="92000"/>
            </a:srgbClr>
          </a:solidFill>
          <a:ln w="15240">
            <a:solidFill>
              <a:srgbClr val="D665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0" name="Text 28"/>
          <p:cNvSpPr/>
          <p:nvPr/>
        </p:nvSpPr>
        <p:spPr>
          <a:xfrm>
            <a:off x="9710928" y="3639312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656064" y="378561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Contracts, faults, and demo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" y="60533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Sherzod Omonov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368" y="62910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 598 Software Integration and Engineering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235440" y="627278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1-16 | March 18,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Shape 1"/>
          <p:cNvSpPr/>
          <p:nvPr/>
        </p:nvSpPr>
        <p:spPr>
          <a:xfrm>
            <a:off x="530352" y="384048"/>
            <a:ext cx="1261872" cy="274320"/>
          </a:xfrm>
          <a:prstGeom prst="roundRect">
            <a:avLst>
              <a:gd name="adj" fmla="val 40000"/>
            </a:avLst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Text 2"/>
          <p:cNvSpPr/>
          <p:nvPr/>
        </p:nvSpPr>
        <p:spPr>
          <a:xfrm>
            <a:off x="640080" y="39319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9006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88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coverage built from repository evidence</a:t>
            </a:r>
            <a:endParaRPr lang="en-US" sz="2388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deck follows the exact presentation rubric and ties every section to code, docs, tests, or runnable APIs.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130991" cy="0"/>
          </a:xfrm>
          <a:prstGeom prst="line">
            <a:avLst/>
          </a:prstGeom>
          <a:noFill/>
          <a:ln w="1524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10771632" y="384048"/>
            <a:ext cx="640080" cy="274320"/>
          </a:xfrm>
          <a:prstGeom prst="roundRect">
            <a:avLst>
              <a:gd name="adj" fmla="val 40000"/>
            </a:avLst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Text 7"/>
          <p:cNvSpPr/>
          <p:nvPr/>
        </p:nvSpPr>
        <p:spPr>
          <a:xfrm>
            <a:off x="10881360" y="39319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41148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6373368"/>
            <a:ext cx="11130991" cy="0"/>
          </a:xfrm>
          <a:prstGeom prst="line">
            <a:avLst/>
          </a:prstGeom>
          <a:noFill/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Shape 11"/>
          <p:cNvSpPr/>
          <p:nvPr/>
        </p:nvSpPr>
        <p:spPr>
          <a:xfrm>
            <a:off x="11448288" y="6464808"/>
            <a:ext cx="201168" cy="201168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Shape 12"/>
          <p:cNvSpPr/>
          <p:nvPr/>
        </p:nvSpPr>
        <p:spPr>
          <a:xfrm>
            <a:off x="749808" y="1536192"/>
            <a:ext cx="3218688" cy="4352544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3"/>
          <p:cNvSpPr/>
          <p:nvPr/>
        </p:nvSpPr>
        <p:spPr>
          <a:xfrm>
            <a:off x="987552" y="17556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presentation targets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87552" y="2286000"/>
            <a:ext cx="82296" cy="82296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Text 15"/>
          <p:cNvSpPr/>
          <p:nvPr/>
        </p:nvSpPr>
        <p:spPr>
          <a:xfrm>
            <a:off x="1152144" y="2176272"/>
            <a:ext cx="2505456" cy="23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overview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87552" y="2583688"/>
            <a:ext cx="82296" cy="82296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Text 17"/>
          <p:cNvSpPr/>
          <p:nvPr/>
        </p:nvSpPr>
        <p:spPr>
          <a:xfrm>
            <a:off x="1152144" y="2473960"/>
            <a:ext cx="2505456" cy="23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architecture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87552" y="2881376"/>
            <a:ext cx="82296" cy="82296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Text 19"/>
          <p:cNvSpPr/>
          <p:nvPr/>
        </p:nvSpPr>
        <p:spPr>
          <a:xfrm>
            <a:off x="1152144" y="2771648"/>
            <a:ext cx="2505456" cy="23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explanation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87552" y="3179064"/>
            <a:ext cx="82296" cy="82296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 21"/>
          <p:cNvSpPr/>
          <p:nvPr/>
        </p:nvSpPr>
        <p:spPr>
          <a:xfrm>
            <a:off x="1152144" y="3069336"/>
            <a:ext cx="2505456" cy="23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implementation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87552" y="3476752"/>
            <a:ext cx="82296" cy="82296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5" name="Text 23"/>
          <p:cNvSpPr/>
          <p:nvPr/>
        </p:nvSpPr>
        <p:spPr>
          <a:xfrm>
            <a:off x="1152144" y="3367024"/>
            <a:ext cx="2505456" cy="23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logic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87552" y="3774440"/>
            <a:ext cx="82296" cy="82296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7" name="Text 25"/>
          <p:cNvSpPr/>
          <p:nvPr/>
        </p:nvSpPr>
        <p:spPr>
          <a:xfrm>
            <a:off x="1152144" y="3664712"/>
            <a:ext cx="2505456" cy="23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 strategy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87552" y="4072128"/>
            <a:ext cx="82296" cy="82296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9" name="Text 27"/>
          <p:cNvSpPr/>
          <p:nvPr/>
        </p:nvSpPr>
        <p:spPr>
          <a:xfrm>
            <a:off x="1152144" y="3962400"/>
            <a:ext cx="2505456" cy="23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handling demonstration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87552" y="4369816"/>
            <a:ext cx="82296" cy="82296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1" name="Text 29"/>
          <p:cNvSpPr/>
          <p:nvPr/>
        </p:nvSpPr>
        <p:spPr>
          <a:xfrm>
            <a:off x="1152144" y="4260088"/>
            <a:ext cx="2505456" cy="23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or recorded demo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87552" y="54132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criteria: 15-20 slides and every section tied to implementation evidence.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15968" y="1572768"/>
            <a:ext cx="3255264" cy="896112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4" name="Shape 32"/>
          <p:cNvSpPr/>
          <p:nvPr/>
        </p:nvSpPr>
        <p:spPr>
          <a:xfrm>
            <a:off x="4443984" y="1719072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5" name="Text 33"/>
          <p:cNvSpPr/>
          <p:nvPr/>
        </p:nvSpPr>
        <p:spPr>
          <a:xfrm>
            <a:off x="4535424" y="179222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10912" y="1700784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010912" y="1920240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static UI became a backend-owned bus ticketing system.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900416" y="1572768"/>
            <a:ext cx="3255264" cy="896112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9" name="Shape 37"/>
          <p:cNvSpPr/>
          <p:nvPr/>
        </p:nvSpPr>
        <p:spPr>
          <a:xfrm>
            <a:off x="8028432" y="1719072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0" name="Text 38"/>
          <p:cNvSpPr/>
          <p:nvPr/>
        </p:nvSpPr>
        <p:spPr>
          <a:xfrm>
            <a:off x="8119872" y="179222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595360" y="170078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595360" y="1920240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Gateway, booking, schedule, payment, and notification services.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315968" y="2633472"/>
            <a:ext cx="3255264" cy="896112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4" name="Shape 42"/>
          <p:cNvSpPr/>
          <p:nvPr/>
        </p:nvSpPr>
        <p:spPr>
          <a:xfrm>
            <a:off x="4443984" y="2779776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5" name="Text 43"/>
          <p:cNvSpPr/>
          <p:nvPr/>
        </p:nvSpPr>
        <p:spPr>
          <a:xfrm>
            <a:off x="4535424" y="285292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010912" y="2761488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010912" y="298094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Flowable BPMN with receive, invoke, flow, switch, and reply.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900416" y="2633472"/>
            <a:ext cx="3255264" cy="896112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9" name="Shape 47"/>
          <p:cNvSpPr/>
          <p:nvPr/>
        </p:nvSpPr>
        <p:spPr>
          <a:xfrm>
            <a:off x="8028432" y="2779776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50" name="Text 48"/>
          <p:cNvSpPr/>
          <p:nvPr/>
        </p:nvSpPr>
        <p:spPr>
          <a:xfrm>
            <a:off x="8119872" y="285292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595360" y="2761488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595360" y="298094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event retained while notification-service stays offline.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315968" y="3694176"/>
            <a:ext cx="3255264" cy="896112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54" name="Shape 52"/>
          <p:cNvSpPr/>
          <p:nvPr/>
        </p:nvSpPr>
        <p:spPr>
          <a:xfrm>
            <a:off x="4443984" y="3840480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D9B45C"/>
          </a:solidFill>
          <a:ln w="12700">
            <a:solidFill>
              <a:srgbClr val="D9B45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55" name="Text 53"/>
          <p:cNvSpPr/>
          <p:nvPr/>
        </p:nvSpPr>
        <p:spPr>
          <a:xfrm>
            <a:off x="4535424" y="391363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010912" y="3822192"/>
            <a:ext cx="1389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010912" y="4041648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bookingReference reused across API, state, logs, and events.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7900416" y="3694176"/>
            <a:ext cx="3255264" cy="896112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59" name="Shape 57"/>
          <p:cNvSpPr/>
          <p:nvPr/>
        </p:nvSpPr>
        <p:spPr>
          <a:xfrm>
            <a:off x="8028432" y="3840480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0" name="Text 58"/>
          <p:cNvSpPr/>
          <p:nvPr/>
        </p:nvSpPr>
        <p:spPr>
          <a:xfrm>
            <a:off x="8119872" y="391363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8595360" y="382219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8595360" y="4041648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Caffeine plus output-cache measured from 60 ms to under 1 ms.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4315968" y="4754880"/>
            <a:ext cx="3255264" cy="896112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4" name="Shape 62"/>
          <p:cNvSpPr/>
          <p:nvPr/>
        </p:nvSpPr>
        <p:spPr>
          <a:xfrm>
            <a:off x="4443984" y="4901184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D6654F"/>
          </a:solidFill>
          <a:ln w="12700">
            <a:solidFill>
              <a:srgbClr val="D665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5" name="Text 63"/>
          <p:cNvSpPr/>
          <p:nvPr/>
        </p:nvSpPr>
        <p:spPr>
          <a:xfrm>
            <a:off x="4535424" y="497433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5010912" y="488289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Faults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5010912" y="5102352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Timeouts, retries, and structured 422/503/504 responses.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7900416" y="4754880"/>
            <a:ext cx="3255264" cy="896112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9" name="Shape 67"/>
          <p:cNvSpPr/>
          <p:nvPr/>
        </p:nvSpPr>
        <p:spPr>
          <a:xfrm>
            <a:off x="8028432" y="4901184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70" name="Text 68"/>
          <p:cNvSpPr/>
          <p:nvPr/>
        </p:nvSpPr>
        <p:spPr>
          <a:xfrm>
            <a:off x="8119872" y="497433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8595360" y="488289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8595360" y="5102352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sequence plus backup evidence path if runtime setup fails.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Shape 1"/>
          <p:cNvSpPr/>
          <p:nvPr/>
        </p:nvSpPr>
        <p:spPr>
          <a:xfrm>
            <a:off x="530352" y="384048"/>
            <a:ext cx="1261872" cy="274320"/>
          </a:xfrm>
          <a:prstGeom prst="roundRect">
            <a:avLst>
              <a:gd name="adj" fmla="val 40000"/>
            </a:avLst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Text 2"/>
          <p:cNvSpPr/>
          <p:nvPr/>
        </p:nvSpPr>
        <p:spPr>
          <a:xfrm>
            <a:off x="640080" y="39319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9006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88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 UI shell to Phase II integration system</a:t>
            </a:r>
            <a:endParaRPr lang="en-US" sz="2388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narrative is the before-and-after shift from browser-only behavior to durable backend coordination.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130991" cy="0"/>
          </a:xfrm>
          <a:prstGeom prst="line">
            <a:avLst/>
          </a:prstGeom>
          <a:noFill/>
          <a:ln w="1524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10771632" y="384048"/>
            <a:ext cx="640080" cy="274320"/>
          </a:xfrm>
          <a:prstGeom prst="roundRect">
            <a:avLst>
              <a:gd name="adj" fmla="val 40000"/>
            </a:avLst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Text 7"/>
          <p:cNvSpPr/>
          <p:nvPr/>
        </p:nvSpPr>
        <p:spPr>
          <a:xfrm>
            <a:off x="10881360" y="39319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41148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6373368"/>
            <a:ext cx="11130991" cy="0"/>
          </a:xfrm>
          <a:prstGeom prst="line">
            <a:avLst/>
          </a:prstGeom>
          <a:noFill/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Shape 11"/>
          <p:cNvSpPr/>
          <p:nvPr/>
        </p:nvSpPr>
        <p:spPr>
          <a:xfrm>
            <a:off x="11448288" y="6464808"/>
            <a:ext cx="201168" cy="201168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Shape 12"/>
          <p:cNvSpPr/>
          <p:nvPr/>
        </p:nvSpPr>
        <p:spPr>
          <a:xfrm>
            <a:off x="749808" y="1627632"/>
            <a:ext cx="3456432" cy="349300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Shape 13"/>
          <p:cNvSpPr/>
          <p:nvPr/>
        </p:nvSpPr>
        <p:spPr>
          <a:xfrm>
            <a:off x="749808" y="1627632"/>
            <a:ext cx="128016" cy="3493008"/>
          </a:xfrm>
          <a:prstGeom prst="rect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6" name="Text 14"/>
          <p:cNvSpPr/>
          <p:nvPr/>
        </p:nvSpPr>
        <p:spPr>
          <a:xfrm>
            <a:off x="987552" y="179222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 baseline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87552" y="2267712"/>
            <a:ext cx="82296" cy="82296"/>
          </a:xfrm>
          <a:prstGeom prst="ellipse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Text 16"/>
          <p:cNvSpPr/>
          <p:nvPr/>
        </p:nvSpPr>
        <p:spPr>
          <a:xfrm>
            <a:off x="1152144" y="2157984"/>
            <a:ext cx="29260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Routes, schedules, and fares lived in static frontend JavaScript.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87552" y="2775204"/>
            <a:ext cx="82296" cy="82296"/>
          </a:xfrm>
          <a:prstGeom prst="ellipse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0" name="Text 18"/>
          <p:cNvSpPr/>
          <p:nvPr/>
        </p:nvSpPr>
        <p:spPr>
          <a:xfrm>
            <a:off x="1152144" y="2665476"/>
            <a:ext cx="29260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behavior was simulated in-browser with localStorage.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87552" y="3282696"/>
            <a:ext cx="82296" cy="82296"/>
          </a:xfrm>
          <a:prstGeom prst="ellipse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Text 20"/>
          <p:cNvSpPr/>
          <p:nvPr/>
        </p:nvSpPr>
        <p:spPr>
          <a:xfrm>
            <a:off x="1152144" y="3172968"/>
            <a:ext cx="29260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server-owned lifecycle state or durable operational data existed.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87552" y="3790188"/>
            <a:ext cx="82296" cy="82296"/>
          </a:xfrm>
          <a:prstGeom prst="ellipse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4" name="Text 22"/>
          <p:cNvSpPr/>
          <p:nvPr/>
        </p:nvSpPr>
        <p:spPr>
          <a:xfrm>
            <a:off x="1152144" y="3680460"/>
            <a:ext cx="2926080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was no asynchronous messaging, orchestration, or fault policy.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87552" y="4809744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deliverable: a 15-page website prototype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26280" y="2651760"/>
            <a:ext cx="786384" cy="1005840"/>
          </a:xfrm>
          <a:prstGeom prst="chevron">
            <a:avLst/>
          </a:prstGeom>
          <a:solidFill>
            <a:srgbClr val="D9B45C"/>
          </a:solidFill>
          <a:ln w="12700">
            <a:solidFill>
              <a:srgbClr val="D9B45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7" name="Shape 25"/>
          <p:cNvSpPr/>
          <p:nvPr/>
        </p:nvSpPr>
        <p:spPr>
          <a:xfrm>
            <a:off x="5596128" y="1627632"/>
            <a:ext cx="5724144" cy="3493008"/>
          </a:xfrm>
          <a:prstGeom prst="roundRect">
            <a:avLst>
              <a:gd name="adj" fmla="val 4712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8" name="Shape 26"/>
          <p:cNvSpPr/>
          <p:nvPr/>
        </p:nvSpPr>
        <p:spPr>
          <a:xfrm>
            <a:off x="5596128" y="1627632"/>
            <a:ext cx="128016" cy="3493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9" name="Text 27"/>
          <p:cNvSpPr/>
          <p:nvPr/>
        </p:nvSpPr>
        <p:spPr>
          <a:xfrm>
            <a:off x="5833872" y="1792224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 delivered state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833872" y="2267712"/>
            <a:ext cx="82296" cy="822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1" name="Text 29"/>
          <p:cNvSpPr/>
          <p:nvPr/>
        </p:nvSpPr>
        <p:spPr>
          <a:xfrm>
            <a:off x="5998464" y="2157984"/>
            <a:ext cx="519379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Gateway-backed APIs now serve routes, quotes, bookings, and state inspection.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833872" y="2775204"/>
            <a:ext cx="82296" cy="822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3" name="Text 31"/>
          <p:cNvSpPr/>
          <p:nvPr/>
        </p:nvSpPr>
        <p:spPr>
          <a:xfrm>
            <a:off x="5998464" y="2665476"/>
            <a:ext cx="519379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Flowable runs the booking BPMN process with explicit partner-service invokes.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833872" y="3282696"/>
            <a:ext cx="82296" cy="822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5" name="Text 33"/>
          <p:cNvSpPr/>
          <p:nvPr/>
        </p:nvSpPr>
        <p:spPr>
          <a:xfrm>
            <a:off x="5998464" y="3172968"/>
            <a:ext cx="519379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decouples booking confirmation from notification delivery.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5833872" y="3591306"/>
            <a:ext cx="82296" cy="822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7" name="Text 35"/>
          <p:cNvSpPr/>
          <p:nvPr/>
        </p:nvSpPr>
        <p:spPr>
          <a:xfrm>
            <a:off x="5998464" y="3481578"/>
            <a:ext cx="519379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stores business lifecycle state per bookingReference.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5833872" y="3899916"/>
            <a:ext cx="82296" cy="822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9" name="Text 37"/>
          <p:cNvSpPr/>
          <p:nvPr/>
        </p:nvSpPr>
        <p:spPr>
          <a:xfrm>
            <a:off x="5998464" y="3790188"/>
            <a:ext cx="519379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Schedule-service applies layered caching with invalidation and measured gains.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5833872" y="4407408"/>
            <a:ext cx="82296" cy="822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1" name="Text 39"/>
          <p:cNvSpPr/>
          <p:nvPr/>
        </p:nvSpPr>
        <p:spPr>
          <a:xfrm>
            <a:off x="5998464" y="4297680"/>
            <a:ext cx="519379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OpenAPI and message contracts define every integration boundary.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5833872" y="480974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a real service-oriented SmartBus shape, not only a demo UI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04672" y="5486400"/>
            <a:ext cx="2505456" cy="310896"/>
          </a:xfrm>
          <a:prstGeom prst="roundRect">
            <a:avLst>
              <a:gd name="adj" fmla="val 35294"/>
            </a:avLst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4" name="Text 42"/>
          <p:cNvSpPr/>
          <p:nvPr/>
        </p:nvSpPr>
        <p:spPr>
          <a:xfrm>
            <a:off x="914400" y="54955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data -&gt; schedule-service APIs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547872" y="5486400"/>
            <a:ext cx="2505456" cy="310896"/>
          </a:xfrm>
          <a:prstGeom prst="roundRect">
            <a:avLst>
              <a:gd name="adj" fmla="val 352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6" name="Text 44"/>
          <p:cNvSpPr/>
          <p:nvPr/>
        </p:nvSpPr>
        <p:spPr>
          <a:xfrm>
            <a:off x="3657600" y="54955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-&gt; PostgreSQL state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91072" y="5486400"/>
            <a:ext cx="2505456" cy="310896"/>
          </a:xfrm>
          <a:prstGeom prst="roundRect">
            <a:avLst>
              <a:gd name="adj" fmla="val 35294"/>
            </a:avLst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8" name="Text 46"/>
          <p:cNvSpPr/>
          <p:nvPr/>
        </p:nvSpPr>
        <p:spPr>
          <a:xfrm>
            <a:off x="6400800" y="54955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page logic -&gt; Flowable BPMN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034272" y="5486400"/>
            <a:ext cx="2505456" cy="310896"/>
          </a:xfrm>
          <a:prstGeom prst="roundRect">
            <a:avLst>
              <a:gd name="adj" fmla="val 35294"/>
            </a:avLst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50" name="Text 48"/>
          <p:cNvSpPr/>
          <p:nvPr/>
        </p:nvSpPr>
        <p:spPr>
          <a:xfrm>
            <a:off x="9144000" y="54955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only -&gt; Kafka recovery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Shape 1"/>
          <p:cNvSpPr/>
          <p:nvPr/>
        </p:nvSpPr>
        <p:spPr>
          <a:xfrm>
            <a:off x="530352" y="384048"/>
            <a:ext cx="1261872" cy="274320"/>
          </a:xfrm>
          <a:prstGeom prst="roundRect">
            <a:avLst>
              <a:gd name="adj" fmla="val 40000"/>
            </a:avLst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Text 2"/>
          <p:cNvSpPr/>
          <p:nvPr/>
        </p:nvSpPr>
        <p:spPr>
          <a:xfrm>
            <a:off x="640080" y="39319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9006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88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architecture keeps booking orchestration central</a:t>
            </a:r>
            <a:endParaRPr lang="en-US" sz="2388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separates responsibilities by business capability and keeps state out of the browser.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130991" cy="0"/>
          </a:xfrm>
          <a:prstGeom prst="line">
            <a:avLst/>
          </a:prstGeom>
          <a:noFill/>
          <a:ln w="1524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10771632" y="384048"/>
            <a:ext cx="640080" cy="274320"/>
          </a:xfrm>
          <a:prstGeom prst="roundRect">
            <a:avLst>
              <a:gd name="adj" fmla="val 40000"/>
            </a:avLst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Text 7"/>
          <p:cNvSpPr/>
          <p:nvPr/>
        </p:nvSpPr>
        <p:spPr>
          <a:xfrm>
            <a:off x="10881360" y="39319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41148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6373368"/>
            <a:ext cx="11130991" cy="0"/>
          </a:xfrm>
          <a:prstGeom prst="line">
            <a:avLst/>
          </a:prstGeom>
          <a:noFill/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Shape 11"/>
          <p:cNvSpPr/>
          <p:nvPr/>
        </p:nvSpPr>
        <p:spPr>
          <a:xfrm>
            <a:off x="11448288" y="6464808"/>
            <a:ext cx="201168" cy="201168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Shape 12"/>
          <p:cNvSpPr/>
          <p:nvPr/>
        </p:nvSpPr>
        <p:spPr>
          <a:xfrm>
            <a:off x="749808" y="1554480"/>
            <a:ext cx="2852928" cy="453542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3"/>
          <p:cNvSpPr/>
          <p:nvPr/>
        </p:nvSpPr>
        <p:spPr>
          <a:xfrm>
            <a:off x="987552" y="17739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diagram proves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87552" y="2286000"/>
            <a:ext cx="82296" cy="82296"/>
          </a:xfrm>
          <a:prstGeom prst="ellipse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Text 15"/>
          <p:cNvSpPr/>
          <p:nvPr/>
        </p:nvSpPr>
        <p:spPr>
          <a:xfrm>
            <a:off x="1152144" y="2176272"/>
            <a:ext cx="2084832" cy="575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4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fronts the existing frontend and API composition layer.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987552" y="2916326"/>
            <a:ext cx="82296" cy="82296"/>
          </a:xfrm>
          <a:prstGeom prst="ellipse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Text 17"/>
          <p:cNvSpPr/>
          <p:nvPr/>
        </p:nvSpPr>
        <p:spPr>
          <a:xfrm>
            <a:off x="1152144" y="2806598"/>
            <a:ext cx="2084832" cy="392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4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Booking-service owns the multi-step purchase lifecycle.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987552" y="3363976"/>
            <a:ext cx="82296" cy="82296"/>
          </a:xfrm>
          <a:prstGeom prst="ellipse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Text 19"/>
          <p:cNvSpPr/>
          <p:nvPr/>
        </p:nvSpPr>
        <p:spPr>
          <a:xfrm>
            <a:off x="1152144" y="3254248"/>
            <a:ext cx="2084832" cy="75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4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Schedule, payment, and notification stay independently owned and replaceable.</a:t>
            </a:r>
            <a:endParaRPr lang="en-US" sz="1240" dirty="0"/>
          </a:p>
        </p:txBody>
      </p:sp>
      <p:sp>
        <p:nvSpPr>
          <p:cNvPr id="22" name="Shape 20"/>
          <p:cNvSpPr/>
          <p:nvPr/>
        </p:nvSpPr>
        <p:spPr>
          <a:xfrm>
            <a:off x="987552" y="4176979"/>
            <a:ext cx="82296" cy="82296"/>
          </a:xfrm>
          <a:prstGeom prst="ellipse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 21"/>
          <p:cNvSpPr/>
          <p:nvPr/>
        </p:nvSpPr>
        <p:spPr>
          <a:xfrm>
            <a:off x="1152144" y="4067251"/>
            <a:ext cx="2084832" cy="575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4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lives in PostgreSQL while Kafka handles the async confirmation edge.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1078992" y="528523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78992" y="5687568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58768" y="1554480"/>
            <a:ext cx="7406640" cy="4535424"/>
          </a:xfrm>
          <a:prstGeom prst="roundRect">
            <a:avLst>
              <a:gd name="adj" fmla="val 3629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pic>
        <p:nvPicPr>
          <p:cNvPr id="31" name="Image 0" descr="/Users/sherzod/study/2026 Spring/CSE 598 Software Integration and Engineering/project/presentation/assets/system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970" y="1755648"/>
            <a:ext cx="417423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Shape 1"/>
          <p:cNvSpPr/>
          <p:nvPr/>
        </p:nvSpPr>
        <p:spPr>
          <a:xfrm>
            <a:off x="530352" y="384048"/>
            <a:ext cx="1261872" cy="274320"/>
          </a:xfrm>
          <a:prstGeom prst="roundRect">
            <a:avLst>
              <a:gd name="adj" fmla="val 40000"/>
            </a:avLst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Text 2"/>
          <p:cNvSpPr/>
          <p:nvPr/>
        </p:nvSpPr>
        <p:spPr>
          <a:xfrm>
            <a:off x="640080" y="39319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9006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88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service boundaries and a pragmatic technology stack</a:t>
            </a:r>
            <a:endParaRPr lang="en-US" sz="2388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service stays small enough to explain, while still demonstrating enterprise integration patterns.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130991" cy="0"/>
          </a:xfrm>
          <a:prstGeom prst="line">
            <a:avLst/>
          </a:prstGeom>
          <a:noFill/>
          <a:ln w="1524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10771632" y="384048"/>
            <a:ext cx="640080" cy="274320"/>
          </a:xfrm>
          <a:prstGeom prst="roundRect">
            <a:avLst>
              <a:gd name="adj" fmla="val 40000"/>
            </a:avLst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Text 7"/>
          <p:cNvSpPr/>
          <p:nvPr/>
        </p:nvSpPr>
        <p:spPr>
          <a:xfrm>
            <a:off x="10881360" y="39319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41148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6373368"/>
            <a:ext cx="11130991" cy="0"/>
          </a:xfrm>
          <a:prstGeom prst="line">
            <a:avLst/>
          </a:prstGeom>
          <a:noFill/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Shape 11"/>
          <p:cNvSpPr/>
          <p:nvPr/>
        </p:nvSpPr>
        <p:spPr>
          <a:xfrm>
            <a:off x="11448288" y="6464808"/>
            <a:ext cx="201168" cy="201168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Shape 12"/>
          <p:cNvSpPr/>
          <p:nvPr/>
        </p:nvSpPr>
        <p:spPr>
          <a:xfrm>
            <a:off x="749808" y="1609344"/>
            <a:ext cx="3493008" cy="1170432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Shape 13"/>
          <p:cNvSpPr/>
          <p:nvPr/>
        </p:nvSpPr>
        <p:spPr>
          <a:xfrm>
            <a:off x="749808" y="1609344"/>
            <a:ext cx="128016" cy="1170432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6" name="Text 14"/>
          <p:cNvSpPr/>
          <p:nvPr/>
        </p:nvSpPr>
        <p:spPr>
          <a:xfrm>
            <a:off x="969264" y="175564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91840" y="1755648"/>
            <a:ext cx="749808" cy="219456"/>
          </a:xfrm>
          <a:prstGeom prst="roundRect">
            <a:avLst>
              <a:gd name="adj" fmla="val 50000"/>
            </a:avLst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Text 16"/>
          <p:cNvSpPr/>
          <p:nvPr/>
        </p:nvSpPr>
        <p:spPr>
          <a:xfrm>
            <a:off x="3401568" y="176479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8080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9264" y="2048256"/>
            <a:ext cx="2944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Frontend-oriented routing and API composition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17136" y="1609344"/>
            <a:ext cx="3493008" cy="1170432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Shape 19"/>
          <p:cNvSpPr/>
          <p:nvPr/>
        </p:nvSpPr>
        <p:spPr>
          <a:xfrm>
            <a:off x="4517136" y="1609344"/>
            <a:ext cx="128016" cy="1170432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Text 20"/>
          <p:cNvSpPr/>
          <p:nvPr/>
        </p:nvSpPr>
        <p:spPr>
          <a:xfrm>
            <a:off x="4736592" y="175564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booking-service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059168" y="1755648"/>
            <a:ext cx="749808" cy="219456"/>
          </a:xfrm>
          <a:prstGeom prst="roundRect">
            <a:avLst>
              <a:gd name="adj" fmla="val 50000"/>
            </a:avLst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4" name="Text 22"/>
          <p:cNvSpPr/>
          <p:nvPr/>
        </p:nvSpPr>
        <p:spPr>
          <a:xfrm>
            <a:off x="7168896" y="176479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8081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36592" y="2048256"/>
            <a:ext cx="2944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Flowable orchestration, retries, correlation, lifecycle state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9808" y="3054096"/>
            <a:ext cx="3493008" cy="1170432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7" name="Shape 25"/>
          <p:cNvSpPr/>
          <p:nvPr/>
        </p:nvSpPr>
        <p:spPr>
          <a:xfrm>
            <a:off x="749808" y="3054096"/>
            <a:ext cx="128016" cy="1170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8" name="Text 26"/>
          <p:cNvSpPr/>
          <p:nvPr/>
        </p:nvSpPr>
        <p:spPr>
          <a:xfrm>
            <a:off x="969264" y="320040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schedule-service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291840" y="3200400"/>
            <a:ext cx="749808" cy="21945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0" name="Text 28"/>
          <p:cNvSpPr/>
          <p:nvPr/>
        </p:nvSpPr>
        <p:spPr>
          <a:xfrm>
            <a:off x="3401568" y="320954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8082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69264" y="3493008"/>
            <a:ext cx="2944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Routes, fares, quotes, and layered caching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17136" y="3054096"/>
            <a:ext cx="3493008" cy="1170432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3" name="Shape 31"/>
          <p:cNvSpPr/>
          <p:nvPr/>
        </p:nvSpPr>
        <p:spPr>
          <a:xfrm>
            <a:off x="4517136" y="3054096"/>
            <a:ext cx="128016" cy="1170432"/>
          </a:xfrm>
          <a:prstGeom prst="rect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4" name="Text 32"/>
          <p:cNvSpPr/>
          <p:nvPr/>
        </p:nvSpPr>
        <p:spPr>
          <a:xfrm>
            <a:off x="4736592" y="320040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payment-service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059168" y="3200400"/>
            <a:ext cx="749808" cy="219456"/>
          </a:xfrm>
          <a:prstGeom prst="roundRect">
            <a:avLst>
              <a:gd name="adj" fmla="val 50000"/>
            </a:avLst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6" name="Text 34"/>
          <p:cNvSpPr/>
          <p:nvPr/>
        </p:nvSpPr>
        <p:spPr>
          <a:xfrm>
            <a:off x="7168896" y="320954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8083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36592" y="3493008"/>
            <a:ext cx="2944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payment authorization boundary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633472" y="4315968"/>
            <a:ext cx="3493008" cy="1024128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9" name="Shape 37"/>
          <p:cNvSpPr/>
          <p:nvPr/>
        </p:nvSpPr>
        <p:spPr>
          <a:xfrm>
            <a:off x="2633472" y="4315968"/>
            <a:ext cx="128016" cy="1024128"/>
          </a:xfrm>
          <a:prstGeom prst="rect">
            <a:avLst/>
          </a:prstGeom>
          <a:solidFill>
            <a:srgbClr val="D6654F"/>
          </a:solidFill>
          <a:ln w="12700">
            <a:solidFill>
              <a:srgbClr val="D665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0" name="Text 38"/>
          <p:cNvSpPr/>
          <p:nvPr/>
        </p:nvSpPr>
        <p:spPr>
          <a:xfrm>
            <a:off x="2852928" y="446227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notification-service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175504" y="4462272"/>
            <a:ext cx="749808" cy="219456"/>
          </a:xfrm>
          <a:prstGeom prst="roundRect">
            <a:avLst>
              <a:gd name="adj" fmla="val 50000"/>
            </a:avLst>
          </a:prstGeom>
          <a:solidFill>
            <a:srgbClr val="D6654F"/>
          </a:solidFill>
          <a:ln w="12700">
            <a:solidFill>
              <a:srgbClr val="D665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2" name="Text 40"/>
          <p:cNvSpPr/>
          <p:nvPr/>
        </p:nvSpPr>
        <p:spPr>
          <a:xfrm>
            <a:off x="5285232" y="447141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8084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852928" y="4754880"/>
            <a:ext cx="2944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preparation, dispatch, and delivery visibility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49808" y="5522976"/>
            <a:ext cx="10515600" cy="438912"/>
          </a:xfrm>
          <a:prstGeom prst="roundRect">
            <a:avLst>
              <a:gd name="adj" fmla="val 37500"/>
            </a:avLst>
          </a:prstGeom>
          <a:solidFill>
            <a:srgbClr val="EEF3F7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5" name="Text 43"/>
          <p:cNvSpPr/>
          <p:nvPr/>
        </p:nvSpPr>
        <p:spPr>
          <a:xfrm>
            <a:off x="950976" y="5632704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Java 25  |  Spring Boot 4.0.3  |  PostgreSQL 17  |  Kafka 3.9  |  Flowable BPMN  |  OpenAPI 3.1  |  Caffeine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Shape 1"/>
          <p:cNvSpPr/>
          <p:nvPr/>
        </p:nvSpPr>
        <p:spPr>
          <a:xfrm>
            <a:off x="530352" y="384048"/>
            <a:ext cx="1261872" cy="274320"/>
          </a:xfrm>
          <a:prstGeom prst="roundRect">
            <a:avLst>
              <a:gd name="adj" fmla="val 4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Text 2"/>
          <p:cNvSpPr/>
          <p:nvPr/>
        </p:nvSpPr>
        <p:spPr>
          <a:xfrm>
            <a:off x="640080" y="39319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9006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94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booking flow runs on a real Flowable BPMN process engine</a:t>
            </a:r>
            <a:endParaRPr lang="en-US" sz="2294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BPMN model is executable runtime behavior, not only a documentation artifact.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130991" cy="0"/>
          </a:xfrm>
          <a:prstGeom prst="line">
            <a:avLst/>
          </a:prstGeom>
          <a:noFill/>
          <a:ln w="1524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10771632" y="384048"/>
            <a:ext cx="640080" cy="274320"/>
          </a:xfrm>
          <a:prstGeom prst="roundRect">
            <a:avLst>
              <a:gd name="adj" fmla="val 40000"/>
            </a:avLst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Text 7"/>
          <p:cNvSpPr/>
          <p:nvPr/>
        </p:nvSpPr>
        <p:spPr>
          <a:xfrm>
            <a:off x="10881360" y="39319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41148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6373368"/>
            <a:ext cx="11130991" cy="0"/>
          </a:xfrm>
          <a:prstGeom prst="line">
            <a:avLst/>
          </a:prstGeom>
          <a:noFill/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Shape 11"/>
          <p:cNvSpPr/>
          <p:nvPr/>
        </p:nvSpPr>
        <p:spPr>
          <a:xfrm>
            <a:off x="11448288" y="6464808"/>
            <a:ext cx="201168" cy="2011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Shape 12"/>
          <p:cNvSpPr/>
          <p:nvPr/>
        </p:nvSpPr>
        <p:spPr>
          <a:xfrm>
            <a:off x="749808" y="1536192"/>
            <a:ext cx="7022592" cy="4553712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pic>
        <p:nvPicPr>
          <p:cNvPr id="15" name="Image 0" descr="/Users/sherzod/study/2026 Spring/CSE 598 Software Integration and Engineering/project/presentation/assets/workflow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4354" y="1719072"/>
            <a:ext cx="4113500" cy="418795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028432" y="1536192"/>
            <a:ext cx="3236976" cy="455371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Text 14"/>
          <p:cNvSpPr/>
          <p:nvPr/>
        </p:nvSpPr>
        <p:spPr>
          <a:xfrm>
            <a:off x="8266176" y="17739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anchors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8266176" y="2249424"/>
            <a:ext cx="82296" cy="822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Text 16"/>
          <p:cNvSpPr/>
          <p:nvPr/>
        </p:nvSpPr>
        <p:spPr>
          <a:xfrm>
            <a:off x="8430768" y="2139696"/>
            <a:ext cx="2487168" cy="410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Entrypoint: POST /api/v1/bookings/orchestrated-bookings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266176" y="2751328"/>
            <a:ext cx="82296" cy="822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Text 18"/>
          <p:cNvSpPr/>
          <p:nvPr/>
        </p:nvSpPr>
        <p:spPr>
          <a:xfrm>
            <a:off x="8430768" y="2641600"/>
            <a:ext cx="2487168" cy="410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key: smartbusBookingProcess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66176" y="3253232"/>
            <a:ext cx="82296" cy="822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 20"/>
          <p:cNvSpPr/>
          <p:nvPr/>
        </p:nvSpPr>
        <p:spPr>
          <a:xfrm>
            <a:off x="8430768" y="3143504"/>
            <a:ext cx="2487168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Runner: FlowableBookingWorkflowRunner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266176" y="3946652"/>
            <a:ext cx="82296" cy="822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5" name="Text 22"/>
          <p:cNvSpPr/>
          <p:nvPr/>
        </p:nvSpPr>
        <p:spPr>
          <a:xfrm>
            <a:off x="8430768" y="3836924"/>
            <a:ext cx="2487168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calls: schedule-service, payment-service, notification-service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266176" y="4640072"/>
            <a:ext cx="82296" cy="822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7" name="Text 24"/>
          <p:cNvSpPr/>
          <p:nvPr/>
        </p:nvSpPr>
        <p:spPr>
          <a:xfrm>
            <a:off x="8430768" y="4530344"/>
            <a:ext cx="2487168" cy="410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step also publishes booking-confirmed.v1 to Kafka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266176" y="5431536"/>
            <a:ext cx="2706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Supplementary summary still exists in orchestration/booking-workflow.yaml, but the BPMN XML is the executable source.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Shape 1"/>
          <p:cNvSpPr/>
          <p:nvPr/>
        </p:nvSpPr>
        <p:spPr>
          <a:xfrm>
            <a:off x="530352" y="384048"/>
            <a:ext cx="1261872" cy="274320"/>
          </a:xfrm>
          <a:prstGeom prst="roundRect">
            <a:avLst>
              <a:gd name="adj" fmla="val 4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Text 2"/>
          <p:cNvSpPr/>
          <p:nvPr/>
        </p:nvSpPr>
        <p:spPr>
          <a:xfrm>
            <a:off x="640080" y="39319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10716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workflow semantics are visible in concrete implementation points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slide maps the rubric terms directly to runtime artifacts and service behavior.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130991" cy="0"/>
          </a:xfrm>
          <a:prstGeom prst="line">
            <a:avLst/>
          </a:prstGeom>
          <a:noFill/>
          <a:ln w="1524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10771632" y="384048"/>
            <a:ext cx="640080" cy="274320"/>
          </a:xfrm>
          <a:prstGeom prst="roundRect">
            <a:avLst>
              <a:gd name="adj" fmla="val 40000"/>
            </a:avLst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Text 7"/>
          <p:cNvSpPr/>
          <p:nvPr/>
        </p:nvSpPr>
        <p:spPr>
          <a:xfrm>
            <a:off x="10881360" y="39319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41148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6373368"/>
            <a:ext cx="11130991" cy="0"/>
          </a:xfrm>
          <a:prstGeom prst="line">
            <a:avLst/>
          </a:prstGeom>
          <a:noFill/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Shape 11"/>
          <p:cNvSpPr/>
          <p:nvPr/>
        </p:nvSpPr>
        <p:spPr>
          <a:xfrm>
            <a:off x="11448288" y="6464808"/>
            <a:ext cx="201168" cy="2011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Shape 12"/>
          <p:cNvSpPr/>
          <p:nvPr/>
        </p:nvSpPr>
        <p:spPr>
          <a:xfrm>
            <a:off x="768096" y="1920240"/>
            <a:ext cx="1956816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2032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Shape 13"/>
          <p:cNvSpPr/>
          <p:nvPr/>
        </p:nvSpPr>
        <p:spPr>
          <a:xfrm>
            <a:off x="914400" y="2029968"/>
            <a:ext cx="493776" cy="310896"/>
          </a:xfrm>
          <a:prstGeom prst="roundRect">
            <a:avLst>
              <a:gd name="adj" fmla="val 23529"/>
            </a:avLst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6" name="Text 14"/>
          <p:cNvSpPr/>
          <p:nvPr/>
        </p:nvSpPr>
        <p:spPr>
          <a:xfrm>
            <a:off x="1024128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36192" y="20482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487168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hands the booking request into the Flowable start event.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61488" y="2697480"/>
            <a:ext cx="146304" cy="329184"/>
          </a:xfrm>
          <a:prstGeom prst="chevron">
            <a:avLst/>
          </a:prstGeom>
          <a:solidFill>
            <a:srgbClr val="D9D2C7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0" name="Shape 18"/>
          <p:cNvSpPr/>
          <p:nvPr/>
        </p:nvSpPr>
        <p:spPr>
          <a:xfrm>
            <a:off x="2999232" y="1920240"/>
            <a:ext cx="1956816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2032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Shape 19"/>
          <p:cNvSpPr/>
          <p:nvPr/>
        </p:nvSpPr>
        <p:spPr>
          <a:xfrm>
            <a:off x="3145536" y="2029968"/>
            <a:ext cx="493776" cy="310896"/>
          </a:xfrm>
          <a:prstGeom prst="roundRect">
            <a:avLst>
              <a:gd name="adj" fmla="val 23529"/>
            </a:avLst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Text 20"/>
          <p:cNvSpPr/>
          <p:nvPr/>
        </p:nvSpPr>
        <p:spPr>
          <a:xfrm>
            <a:off x="3255264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67328" y="20482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145536" y="2487168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Delegates call schedule, payment, and notification partner services.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92624" y="2697480"/>
            <a:ext cx="146304" cy="329184"/>
          </a:xfrm>
          <a:prstGeom prst="chevron">
            <a:avLst/>
          </a:prstGeom>
          <a:solidFill>
            <a:srgbClr val="D9D2C7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6" name="Shape 24"/>
          <p:cNvSpPr/>
          <p:nvPr/>
        </p:nvSpPr>
        <p:spPr>
          <a:xfrm>
            <a:off x="5230368" y="1920240"/>
            <a:ext cx="1956816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2032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7" name="Shape 25"/>
          <p:cNvSpPr/>
          <p:nvPr/>
        </p:nvSpPr>
        <p:spPr>
          <a:xfrm>
            <a:off x="5376672" y="2029968"/>
            <a:ext cx="493776" cy="310896"/>
          </a:xfrm>
          <a:prstGeom prst="roundRect">
            <a:avLst>
              <a:gd name="adj" fmla="val 2352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8" name="Text 26"/>
          <p:cNvSpPr/>
          <p:nvPr/>
        </p:nvSpPr>
        <p:spPr>
          <a:xfrm>
            <a:off x="5486400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98464" y="20482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76672" y="2487168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gateway splits payment authorization and notification preparation.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223760" y="2697480"/>
            <a:ext cx="146304" cy="329184"/>
          </a:xfrm>
          <a:prstGeom prst="chevron">
            <a:avLst/>
          </a:prstGeom>
          <a:solidFill>
            <a:srgbClr val="D9D2C7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2" name="Shape 30"/>
          <p:cNvSpPr/>
          <p:nvPr/>
        </p:nvSpPr>
        <p:spPr>
          <a:xfrm>
            <a:off x="7461504" y="1920240"/>
            <a:ext cx="1956816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2032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3" name="Shape 31"/>
          <p:cNvSpPr/>
          <p:nvPr/>
        </p:nvSpPr>
        <p:spPr>
          <a:xfrm>
            <a:off x="7607808" y="2029968"/>
            <a:ext cx="493776" cy="310896"/>
          </a:xfrm>
          <a:prstGeom prst="roundRect">
            <a:avLst>
              <a:gd name="adj" fmla="val 23529"/>
            </a:avLst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4" name="Text 32"/>
          <p:cNvSpPr/>
          <p:nvPr/>
        </p:nvSpPr>
        <p:spPr>
          <a:xfrm>
            <a:off x="7717536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29600" y="20482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607808" y="2487168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and payment decisions branch to success or failure paths.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454896" y="2697480"/>
            <a:ext cx="146304" cy="329184"/>
          </a:xfrm>
          <a:prstGeom prst="chevron">
            <a:avLst/>
          </a:prstGeom>
          <a:solidFill>
            <a:srgbClr val="D9D2C7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8" name="Shape 36"/>
          <p:cNvSpPr/>
          <p:nvPr/>
        </p:nvSpPr>
        <p:spPr>
          <a:xfrm>
            <a:off x="9692640" y="1920240"/>
            <a:ext cx="1956816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20320">
            <a:solidFill>
              <a:srgbClr val="D665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9" name="Shape 37"/>
          <p:cNvSpPr/>
          <p:nvPr/>
        </p:nvSpPr>
        <p:spPr>
          <a:xfrm>
            <a:off x="9838944" y="2029968"/>
            <a:ext cx="493776" cy="310896"/>
          </a:xfrm>
          <a:prstGeom prst="roundRect">
            <a:avLst>
              <a:gd name="adj" fmla="val 23529"/>
            </a:avLst>
          </a:prstGeom>
          <a:solidFill>
            <a:srgbClr val="D6654F"/>
          </a:solidFill>
          <a:ln w="12700">
            <a:solidFill>
              <a:srgbClr val="D665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0" name="Text 38"/>
          <p:cNvSpPr/>
          <p:nvPr/>
        </p:nvSpPr>
        <p:spPr>
          <a:xfrm>
            <a:off x="9948672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460736" y="20482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838944" y="2487168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returns the confirmed booking response and workflow trace.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68096" y="4297680"/>
            <a:ext cx="10479024" cy="1335024"/>
          </a:xfrm>
          <a:prstGeom prst="roundRect">
            <a:avLst>
              <a:gd name="adj" fmla="val 12329"/>
            </a:avLst>
          </a:prstGeom>
          <a:solidFill>
            <a:srgbClr val="EEF3F7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4" name="Text 42"/>
          <p:cNvSpPr/>
          <p:nvPr/>
        </p:nvSpPr>
        <p:spPr>
          <a:xfrm>
            <a:off x="987552" y="45354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delegates and process artifacts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87552" y="4864608"/>
            <a:ext cx="10003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InitializeBookingDelegate  |  ValidateScheduleDelegate  |  AuthorizePaymentDelegate  |  PrepareNotificationDelegate  |  DispatchNotificationDelegate  |  FinalizeBookingDelegate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987552" y="5193792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BPMN model makes logging, retries, and state transitions observable at each orchestration step.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Shape 1"/>
          <p:cNvSpPr/>
          <p:nvPr/>
        </p:nvSpPr>
        <p:spPr>
          <a:xfrm>
            <a:off x="530352" y="384048"/>
            <a:ext cx="1261872" cy="274320"/>
          </a:xfrm>
          <a:prstGeom prst="roundRect">
            <a:avLst>
              <a:gd name="adj" fmla="val 40000"/>
            </a:avLst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Text 2"/>
          <p:cNvSpPr/>
          <p:nvPr/>
        </p:nvSpPr>
        <p:spPr>
          <a:xfrm>
            <a:off x="640080" y="39319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10204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introduces asynchronous confirmation delivery with offline recovery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Booking-service can finish the user-facing flow without blocking on notification-service availability.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130991" cy="0"/>
          </a:xfrm>
          <a:prstGeom prst="line">
            <a:avLst/>
          </a:prstGeom>
          <a:noFill/>
          <a:ln w="1524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10771632" y="384048"/>
            <a:ext cx="640080" cy="274320"/>
          </a:xfrm>
          <a:prstGeom prst="roundRect">
            <a:avLst>
              <a:gd name="adj" fmla="val 40000"/>
            </a:avLst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Text 7"/>
          <p:cNvSpPr/>
          <p:nvPr/>
        </p:nvSpPr>
        <p:spPr>
          <a:xfrm>
            <a:off x="10881360" y="39319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41148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6373368"/>
            <a:ext cx="11130991" cy="0"/>
          </a:xfrm>
          <a:prstGeom prst="line">
            <a:avLst/>
          </a:prstGeom>
          <a:noFill/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Shape 11"/>
          <p:cNvSpPr/>
          <p:nvPr/>
        </p:nvSpPr>
        <p:spPr>
          <a:xfrm>
            <a:off x="11448288" y="6464808"/>
            <a:ext cx="201168" cy="201168"/>
          </a:xfrm>
          <a:prstGeom prst="rect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Shape 12"/>
          <p:cNvSpPr/>
          <p:nvPr/>
        </p:nvSpPr>
        <p:spPr>
          <a:xfrm>
            <a:off x="749808" y="1536192"/>
            <a:ext cx="6693408" cy="4553712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6" name="Shape 13"/>
          <p:cNvSpPr/>
          <p:nvPr/>
        </p:nvSpPr>
        <p:spPr>
          <a:xfrm>
            <a:off x="7699248" y="1536192"/>
            <a:ext cx="3566160" cy="4553712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Text 14"/>
          <p:cNvSpPr/>
          <p:nvPr/>
        </p:nvSpPr>
        <p:spPr>
          <a:xfrm>
            <a:off x="7936992" y="17739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proof points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936992" y="2249424"/>
            <a:ext cx="82296" cy="82296"/>
          </a:xfrm>
          <a:prstGeom prst="ellipse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Text 16"/>
          <p:cNvSpPr/>
          <p:nvPr/>
        </p:nvSpPr>
        <p:spPr>
          <a:xfrm>
            <a:off x="8101584" y="2139696"/>
            <a:ext cx="2633472" cy="2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Producer: booking-service</a:t>
            </a:r>
            <a:endParaRPr lang="en-US" sz="1220" dirty="0"/>
          </a:p>
        </p:txBody>
      </p:sp>
      <p:sp>
        <p:nvSpPr>
          <p:cNvPr id="20" name="Shape 17"/>
          <p:cNvSpPr/>
          <p:nvPr/>
        </p:nvSpPr>
        <p:spPr>
          <a:xfrm>
            <a:off x="7936992" y="2511450"/>
            <a:ext cx="82296" cy="82296"/>
          </a:xfrm>
          <a:prstGeom prst="ellipse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Text 18"/>
          <p:cNvSpPr/>
          <p:nvPr/>
        </p:nvSpPr>
        <p:spPr>
          <a:xfrm>
            <a:off x="8101584" y="2401722"/>
            <a:ext cx="2633472" cy="2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Consumer: notification-service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7936992" y="2773477"/>
            <a:ext cx="82296" cy="82296"/>
          </a:xfrm>
          <a:prstGeom prst="ellipse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 20"/>
          <p:cNvSpPr/>
          <p:nvPr/>
        </p:nvSpPr>
        <p:spPr>
          <a:xfrm>
            <a:off x="8101584" y="2663749"/>
            <a:ext cx="2633472" cy="3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Topic: smartbus.booking.confirmed.v1</a:t>
            </a:r>
            <a:endParaRPr lang="en-US" sz="1220" dirty="0"/>
          </a:p>
        </p:txBody>
      </p:sp>
      <p:sp>
        <p:nvSpPr>
          <p:cNvPr id="24" name="Shape 21"/>
          <p:cNvSpPr/>
          <p:nvPr/>
        </p:nvSpPr>
        <p:spPr>
          <a:xfrm>
            <a:off x="7936992" y="3215234"/>
            <a:ext cx="82296" cy="82296"/>
          </a:xfrm>
          <a:prstGeom prst="ellipse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5" name="Text 22"/>
          <p:cNvSpPr/>
          <p:nvPr/>
        </p:nvSpPr>
        <p:spPr>
          <a:xfrm>
            <a:off x="8101584" y="3105506"/>
            <a:ext cx="2633472" cy="3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comes from the kafka-data Docker volume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7936992" y="4005072"/>
            <a:ext cx="2834640" cy="0"/>
          </a:xfrm>
          <a:prstGeom prst="line">
            <a:avLst/>
          </a:prstGeom>
          <a:noFill/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7" name="Text 24"/>
          <p:cNvSpPr/>
          <p:nvPr/>
        </p:nvSpPr>
        <p:spPr>
          <a:xfrm>
            <a:off x="7936992" y="41696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 evidence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936992" y="4645152"/>
            <a:ext cx="82296" cy="82296"/>
          </a:xfrm>
          <a:prstGeom prst="ellipse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9" name="Text 26"/>
          <p:cNvSpPr/>
          <p:nvPr/>
        </p:nvSpPr>
        <p:spPr>
          <a:xfrm>
            <a:off x="8101584" y="4535424"/>
            <a:ext cx="2633472" cy="548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bookingEventPublished proves the event was produced after booking success.</a:t>
            </a:r>
            <a:endParaRPr lang="en-US" sz="1180" dirty="0"/>
          </a:p>
        </p:txBody>
      </p:sp>
      <p:sp>
        <p:nvSpPr>
          <p:cNvPr id="30" name="Shape 27"/>
          <p:cNvSpPr/>
          <p:nvPr/>
        </p:nvSpPr>
        <p:spPr>
          <a:xfrm>
            <a:off x="7936992" y="5230673"/>
            <a:ext cx="82296" cy="82296"/>
          </a:xfrm>
          <a:prstGeom prst="ellipse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1" name="Text 28"/>
          <p:cNvSpPr/>
          <p:nvPr/>
        </p:nvSpPr>
        <p:spPr>
          <a:xfrm>
            <a:off x="8101584" y="5120945"/>
            <a:ext cx="2633472" cy="548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bookingEventConsumed appears when notification-service comes back online.</a:t>
            </a:r>
            <a:endParaRPr lang="en-US" sz="1180" dirty="0"/>
          </a:p>
        </p:txBody>
      </p:sp>
      <p:sp>
        <p:nvSpPr>
          <p:cNvPr id="32" name="Shape 29"/>
          <p:cNvSpPr/>
          <p:nvPr/>
        </p:nvSpPr>
        <p:spPr>
          <a:xfrm>
            <a:off x="7936992" y="5816194"/>
            <a:ext cx="82296" cy="82296"/>
          </a:xfrm>
          <a:prstGeom prst="ellipse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3" name="Text 30"/>
          <p:cNvSpPr/>
          <p:nvPr/>
        </p:nvSpPr>
        <p:spPr>
          <a:xfrm>
            <a:off x="8101584" y="5706466"/>
            <a:ext cx="2633472" cy="375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/api/v1/notifications/deliveries confirms backlog delivery replay.</a:t>
            </a:r>
            <a:endParaRPr lang="en-US" sz="118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8008D51-2978-C9A0-492E-30FBDE71E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59" y="1748485"/>
            <a:ext cx="6424105" cy="41931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B45C"/>
          </a:solidFill>
          <a:ln w="12700">
            <a:solidFill>
              <a:srgbClr val="D9B45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Shape 1"/>
          <p:cNvSpPr/>
          <p:nvPr/>
        </p:nvSpPr>
        <p:spPr>
          <a:xfrm>
            <a:off x="530352" y="384048"/>
            <a:ext cx="1261872" cy="274320"/>
          </a:xfrm>
          <a:prstGeom prst="roundRect">
            <a:avLst>
              <a:gd name="adj" fmla="val 40000"/>
            </a:avLst>
          </a:prstGeom>
          <a:solidFill>
            <a:srgbClr val="D9B45C"/>
          </a:solidFill>
          <a:ln w="12700">
            <a:solidFill>
              <a:srgbClr val="D9B45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Text 2"/>
          <p:cNvSpPr/>
          <p:nvPr/>
        </p:nvSpPr>
        <p:spPr>
          <a:xfrm>
            <a:off x="640080" y="39319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10917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bookingReference is the business key that ties every stateful interaction together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identifier appears in the response, persistence layer, logs, partner calls, and Kafka events.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130991" cy="0"/>
          </a:xfrm>
          <a:prstGeom prst="line">
            <a:avLst/>
          </a:prstGeom>
          <a:noFill/>
          <a:ln w="1524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10771632" y="384048"/>
            <a:ext cx="640080" cy="274320"/>
          </a:xfrm>
          <a:prstGeom prst="roundRect">
            <a:avLst>
              <a:gd name="adj" fmla="val 40000"/>
            </a:avLst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Text 7"/>
          <p:cNvSpPr/>
          <p:nvPr/>
        </p:nvSpPr>
        <p:spPr>
          <a:xfrm>
            <a:off x="10881360" y="39319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41148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6373368"/>
            <a:ext cx="11130991" cy="0"/>
          </a:xfrm>
          <a:prstGeom prst="line">
            <a:avLst/>
          </a:prstGeom>
          <a:noFill/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Shape 11"/>
          <p:cNvSpPr/>
          <p:nvPr/>
        </p:nvSpPr>
        <p:spPr>
          <a:xfrm>
            <a:off x="11448288" y="6464808"/>
            <a:ext cx="201168" cy="201168"/>
          </a:xfrm>
          <a:prstGeom prst="rect">
            <a:avLst/>
          </a:prstGeom>
          <a:solidFill>
            <a:srgbClr val="D9B45C"/>
          </a:solidFill>
          <a:ln w="12700">
            <a:solidFill>
              <a:srgbClr val="D9B45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Shape 12"/>
          <p:cNvSpPr/>
          <p:nvPr/>
        </p:nvSpPr>
        <p:spPr>
          <a:xfrm>
            <a:off x="749808" y="1572768"/>
            <a:ext cx="10515600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3"/>
          <p:cNvSpPr/>
          <p:nvPr/>
        </p:nvSpPr>
        <p:spPr>
          <a:xfrm>
            <a:off x="1005840" y="1792224"/>
            <a:ext cx="2157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B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bookingReference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62184" y="1744218"/>
            <a:ext cx="7527736" cy="221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generated once at the start of orchestration and then reused everywhere SmartBus needs traceability or recovery.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9808" y="2505456"/>
            <a:ext cx="3291840" cy="3456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Shape 16"/>
          <p:cNvSpPr/>
          <p:nvPr/>
        </p:nvSpPr>
        <p:spPr>
          <a:xfrm>
            <a:off x="749808" y="2505456"/>
            <a:ext cx="128016" cy="3456432"/>
          </a:xfrm>
          <a:prstGeom prst="rect">
            <a:avLst/>
          </a:prstGeom>
          <a:solidFill>
            <a:srgbClr val="D9B45C"/>
          </a:solidFill>
          <a:ln w="12700">
            <a:solidFill>
              <a:srgbClr val="D9B45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Text 17"/>
          <p:cNvSpPr/>
          <p:nvPr/>
        </p:nvSpPr>
        <p:spPr>
          <a:xfrm>
            <a:off x="987552" y="2670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appears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87552" y="3145536"/>
            <a:ext cx="82296" cy="82296"/>
          </a:xfrm>
          <a:prstGeom prst="ellipse">
            <a:avLst/>
          </a:prstGeom>
          <a:solidFill>
            <a:srgbClr val="D9B45C"/>
          </a:solidFill>
          <a:ln w="12700">
            <a:solidFill>
              <a:srgbClr val="D9B45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Text 19"/>
          <p:cNvSpPr/>
          <p:nvPr/>
        </p:nvSpPr>
        <p:spPr>
          <a:xfrm>
            <a:off x="1152144" y="3035808"/>
            <a:ext cx="276148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API success response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87552" y="3454146"/>
            <a:ext cx="82296" cy="82296"/>
          </a:xfrm>
          <a:prstGeom prst="ellipse">
            <a:avLst/>
          </a:prstGeom>
          <a:solidFill>
            <a:srgbClr val="D9B45C"/>
          </a:solidFill>
          <a:ln w="12700">
            <a:solidFill>
              <a:srgbClr val="D9B45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 21"/>
          <p:cNvSpPr/>
          <p:nvPr/>
        </p:nvSpPr>
        <p:spPr>
          <a:xfrm>
            <a:off x="1152144" y="3344418"/>
            <a:ext cx="276148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booking_process_instances state rows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87552" y="3961638"/>
            <a:ext cx="82296" cy="82296"/>
          </a:xfrm>
          <a:prstGeom prst="ellipse">
            <a:avLst/>
          </a:prstGeom>
          <a:solidFill>
            <a:srgbClr val="D9B45C"/>
          </a:solidFill>
          <a:ln w="12700">
            <a:solidFill>
              <a:srgbClr val="D9B45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5" name="Text 23"/>
          <p:cNvSpPr/>
          <p:nvPr/>
        </p:nvSpPr>
        <p:spPr>
          <a:xfrm>
            <a:off x="1152144" y="3851910"/>
            <a:ext cx="276148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workflow logs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87552" y="4270248"/>
            <a:ext cx="82296" cy="82296"/>
          </a:xfrm>
          <a:prstGeom prst="ellipse">
            <a:avLst/>
          </a:prstGeom>
          <a:solidFill>
            <a:srgbClr val="D9B45C"/>
          </a:solidFill>
          <a:ln w="12700">
            <a:solidFill>
              <a:srgbClr val="D9B45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7" name="Text 25"/>
          <p:cNvSpPr/>
          <p:nvPr/>
        </p:nvSpPr>
        <p:spPr>
          <a:xfrm>
            <a:off x="1152144" y="4160520"/>
            <a:ext cx="276148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service request context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987552" y="4578858"/>
            <a:ext cx="82296" cy="82296"/>
          </a:xfrm>
          <a:prstGeom prst="ellipse">
            <a:avLst/>
          </a:prstGeom>
          <a:solidFill>
            <a:srgbClr val="D9B45C"/>
          </a:solidFill>
          <a:ln w="12700">
            <a:solidFill>
              <a:srgbClr val="D9B45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9" name="Text 27"/>
          <p:cNvSpPr/>
          <p:nvPr/>
        </p:nvSpPr>
        <p:spPr>
          <a:xfrm>
            <a:off x="1152144" y="4469130"/>
            <a:ext cx="276148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booking-confirmed events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987552" y="4887468"/>
            <a:ext cx="82296" cy="82296"/>
          </a:xfrm>
          <a:prstGeom prst="ellipse">
            <a:avLst/>
          </a:prstGeom>
          <a:solidFill>
            <a:srgbClr val="D9B45C"/>
          </a:solidFill>
          <a:ln w="12700">
            <a:solidFill>
              <a:srgbClr val="D9B45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1" name="Text 29"/>
          <p:cNvSpPr/>
          <p:nvPr/>
        </p:nvSpPr>
        <p:spPr>
          <a:xfrm>
            <a:off x="1152144" y="4777740"/>
            <a:ext cx="276148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inspection endpoint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315968" y="2505456"/>
            <a:ext cx="6949440" cy="345643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3" name="Text 31"/>
          <p:cNvSpPr/>
          <p:nvPr/>
        </p:nvSpPr>
        <p:spPr>
          <a:xfrm>
            <a:off x="4553712" y="2743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state progression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53712" y="3145536"/>
            <a:ext cx="1335024" cy="530352"/>
          </a:xfrm>
          <a:prstGeom prst="roundRect">
            <a:avLst>
              <a:gd name="adj" fmla="val 13793"/>
            </a:avLst>
          </a:prstGeom>
          <a:solidFill>
            <a:srgbClr val="EEF3F7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5" name="Text 33"/>
          <p:cNvSpPr/>
          <p:nvPr/>
        </p:nvSpPr>
        <p:spPr>
          <a:xfrm>
            <a:off x="4626864" y="33009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RECEIVED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144768" y="3145536"/>
            <a:ext cx="1335024" cy="530352"/>
          </a:xfrm>
          <a:prstGeom prst="roundRect">
            <a:avLst>
              <a:gd name="adj" fmla="val 13793"/>
            </a:avLst>
          </a:prstGeom>
          <a:solidFill>
            <a:srgbClr val="EEF3F7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7" name="Text 35"/>
          <p:cNvSpPr/>
          <p:nvPr/>
        </p:nvSpPr>
        <p:spPr>
          <a:xfrm>
            <a:off x="6217920" y="33009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SCHEDULE_VALIDATED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7735824" y="3145536"/>
            <a:ext cx="1335024" cy="530352"/>
          </a:xfrm>
          <a:prstGeom prst="roundRect">
            <a:avLst>
              <a:gd name="adj" fmla="val 13793"/>
            </a:avLst>
          </a:prstGeom>
          <a:solidFill>
            <a:srgbClr val="EEF3F7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9" name="Text 37"/>
          <p:cNvSpPr/>
          <p:nvPr/>
        </p:nvSpPr>
        <p:spPr>
          <a:xfrm>
            <a:off x="7808976" y="33009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ROUND_TRIP_VALIDATED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9326880" y="3145536"/>
            <a:ext cx="1335024" cy="530352"/>
          </a:xfrm>
          <a:prstGeom prst="roundRect">
            <a:avLst>
              <a:gd name="adj" fmla="val 13793"/>
            </a:avLst>
          </a:prstGeom>
          <a:solidFill>
            <a:srgbClr val="EEF3F7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1" name="Text 39"/>
          <p:cNvSpPr/>
          <p:nvPr/>
        </p:nvSpPr>
        <p:spPr>
          <a:xfrm>
            <a:off x="9400032" y="33009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PAYMENT_PENDING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4553712" y="4224528"/>
            <a:ext cx="1335024" cy="530352"/>
          </a:xfrm>
          <a:prstGeom prst="roundRect">
            <a:avLst>
              <a:gd name="adj" fmla="val 13793"/>
            </a:avLst>
          </a:prstGeom>
          <a:solidFill>
            <a:srgbClr val="EDE4D8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3" name="Text 41"/>
          <p:cNvSpPr/>
          <p:nvPr/>
        </p:nvSpPr>
        <p:spPr>
          <a:xfrm>
            <a:off x="4626864" y="437997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PAYMENT_AUTHORIZED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6144768" y="4224528"/>
            <a:ext cx="1335024" cy="530352"/>
          </a:xfrm>
          <a:prstGeom prst="roundRect">
            <a:avLst>
              <a:gd name="adj" fmla="val 13793"/>
            </a:avLst>
          </a:prstGeom>
          <a:solidFill>
            <a:srgbClr val="EDE4D8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5" name="Text 43"/>
          <p:cNvSpPr/>
          <p:nvPr/>
        </p:nvSpPr>
        <p:spPr>
          <a:xfrm>
            <a:off x="6217920" y="437997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NOTIFICATION_PENDING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7735824" y="4224528"/>
            <a:ext cx="1335024" cy="530352"/>
          </a:xfrm>
          <a:prstGeom prst="roundRect">
            <a:avLst>
              <a:gd name="adj" fmla="val 13793"/>
            </a:avLst>
          </a:prstGeom>
          <a:solidFill>
            <a:srgbClr val="EDE4D8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7" name="Text 45"/>
          <p:cNvSpPr/>
          <p:nvPr/>
        </p:nvSpPr>
        <p:spPr>
          <a:xfrm>
            <a:off x="7808976" y="437997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9326880" y="4224528"/>
            <a:ext cx="1335024" cy="530352"/>
          </a:xfrm>
          <a:prstGeom prst="roundRect">
            <a:avLst>
              <a:gd name="adj" fmla="val 13793"/>
            </a:avLst>
          </a:prstGeom>
          <a:solidFill>
            <a:srgbClr val="EDE4D8"/>
          </a:solidFill>
          <a:ln w="12700">
            <a:solidFill>
              <a:srgbClr val="D665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9" name="Text 47"/>
          <p:cNvSpPr/>
          <p:nvPr/>
        </p:nvSpPr>
        <p:spPr>
          <a:xfrm>
            <a:off x="9400032" y="437997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66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920" dirty="0"/>
          </a:p>
        </p:txBody>
      </p:sp>
      <p:sp>
        <p:nvSpPr>
          <p:cNvPr id="50" name="Text 48"/>
          <p:cNvSpPr/>
          <p:nvPr/>
        </p:nvSpPr>
        <p:spPr>
          <a:xfrm>
            <a:off x="4553712" y="5413248"/>
            <a:ext cx="6364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endpoint: GET /api/v1/bookings/{bookingReference}/state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B45C"/>
          </a:solidFill>
          <a:ln w="12700">
            <a:solidFill>
              <a:srgbClr val="D9B45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Shape 1"/>
          <p:cNvSpPr/>
          <p:nvPr/>
        </p:nvSpPr>
        <p:spPr>
          <a:xfrm>
            <a:off x="530352" y="384048"/>
            <a:ext cx="1261872" cy="274320"/>
          </a:xfrm>
          <a:prstGeom prst="roundRect">
            <a:avLst>
              <a:gd name="adj" fmla="val 40000"/>
            </a:avLst>
          </a:prstGeom>
          <a:solidFill>
            <a:srgbClr val="D9B45C"/>
          </a:solidFill>
          <a:ln w="12700">
            <a:solidFill>
              <a:srgbClr val="D9B45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Text 2"/>
          <p:cNvSpPr/>
          <p:nvPr/>
        </p:nvSpPr>
        <p:spPr>
          <a:xfrm>
            <a:off x="640080" y="39319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11119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requests stay isolated because every path is keyed by bookingReference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mutable booking state is shared between parallel requests; each instance keeps its own persistence, logs, and events.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130991" cy="0"/>
          </a:xfrm>
          <a:prstGeom prst="line">
            <a:avLst/>
          </a:prstGeom>
          <a:noFill/>
          <a:ln w="1524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10771632" y="384048"/>
            <a:ext cx="640080" cy="274320"/>
          </a:xfrm>
          <a:prstGeom prst="roundRect">
            <a:avLst>
              <a:gd name="adj" fmla="val 40000"/>
            </a:avLst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Text 7"/>
          <p:cNvSpPr/>
          <p:nvPr/>
        </p:nvSpPr>
        <p:spPr>
          <a:xfrm>
            <a:off x="10881360" y="39319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41148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6373368"/>
            <a:ext cx="11130991" cy="0"/>
          </a:xfrm>
          <a:prstGeom prst="line">
            <a:avLst/>
          </a:prstGeom>
          <a:noFill/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Shape 11"/>
          <p:cNvSpPr/>
          <p:nvPr/>
        </p:nvSpPr>
        <p:spPr>
          <a:xfrm>
            <a:off x="11448288" y="6464808"/>
            <a:ext cx="201168" cy="201168"/>
          </a:xfrm>
          <a:prstGeom prst="rect">
            <a:avLst/>
          </a:prstGeom>
          <a:solidFill>
            <a:srgbClr val="D9B45C"/>
          </a:solidFill>
          <a:ln w="12700">
            <a:solidFill>
              <a:srgbClr val="D9B45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Shape 12"/>
          <p:cNvSpPr/>
          <p:nvPr/>
        </p:nvSpPr>
        <p:spPr>
          <a:xfrm>
            <a:off x="749808" y="1700784"/>
            <a:ext cx="3236976" cy="3364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Shape 13"/>
          <p:cNvSpPr/>
          <p:nvPr/>
        </p:nvSpPr>
        <p:spPr>
          <a:xfrm>
            <a:off x="932688" y="1901952"/>
            <a:ext cx="548640" cy="310896"/>
          </a:xfrm>
          <a:prstGeom prst="roundRect">
            <a:avLst>
              <a:gd name="adj" fmla="val 23529"/>
            </a:avLst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6" name="Text 14"/>
          <p:cNvSpPr/>
          <p:nvPr/>
        </p:nvSpPr>
        <p:spPr>
          <a:xfrm>
            <a:off x="1042416" y="198424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9344" y="1938528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correlation key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50976" y="2596896"/>
            <a:ext cx="82296" cy="82296"/>
          </a:xfrm>
          <a:prstGeom prst="ellipse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Text 17"/>
          <p:cNvSpPr/>
          <p:nvPr/>
        </p:nvSpPr>
        <p:spPr>
          <a:xfrm>
            <a:off x="1115568" y="2487168"/>
            <a:ext cx="2542032" cy="410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booking request gets a unique bookingReference.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50976" y="3135376"/>
            <a:ext cx="82296" cy="82296"/>
          </a:xfrm>
          <a:prstGeom prst="ellipse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Text 19"/>
          <p:cNvSpPr/>
          <p:nvPr/>
        </p:nvSpPr>
        <p:spPr>
          <a:xfrm>
            <a:off x="1115568" y="3025648"/>
            <a:ext cx="2542032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Responses keep their own key instead of reusing shared browser state.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15968" y="1700784"/>
            <a:ext cx="3236976" cy="3364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Shape 21"/>
          <p:cNvSpPr/>
          <p:nvPr/>
        </p:nvSpPr>
        <p:spPr>
          <a:xfrm>
            <a:off x="4498848" y="1901952"/>
            <a:ext cx="548640" cy="310896"/>
          </a:xfrm>
          <a:prstGeom prst="roundRect">
            <a:avLst>
              <a:gd name="adj" fmla="val 2352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4" name="Text 22"/>
          <p:cNvSpPr/>
          <p:nvPr/>
        </p:nvSpPr>
        <p:spPr>
          <a:xfrm>
            <a:off x="4608576" y="198424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75504" y="1938528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isolation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17136" y="2596896"/>
            <a:ext cx="82296" cy="822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7" name="Text 25"/>
          <p:cNvSpPr/>
          <p:nvPr/>
        </p:nvSpPr>
        <p:spPr>
          <a:xfrm>
            <a:off x="4681728" y="2487168"/>
            <a:ext cx="2542032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rows are keyed by booking_reference in PostgreSQL.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17136" y="3326892"/>
            <a:ext cx="82296" cy="822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9" name="Text 27"/>
          <p:cNvSpPr/>
          <p:nvPr/>
        </p:nvSpPr>
        <p:spPr>
          <a:xfrm>
            <a:off x="4681728" y="3217164"/>
            <a:ext cx="2542032" cy="410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 update only the matching process instance.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882128" y="1700784"/>
            <a:ext cx="3236976" cy="3364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1" name="Shape 29"/>
          <p:cNvSpPr/>
          <p:nvPr/>
        </p:nvSpPr>
        <p:spPr>
          <a:xfrm>
            <a:off x="8065008" y="1901952"/>
            <a:ext cx="548640" cy="310896"/>
          </a:xfrm>
          <a:prstGeom prst="roundRect">
            <a:avLst>
              <a:gd name="adj" fmla="val 23529"/>
            </a:avLst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2" name="Text 30"/>
          <p:cNvSpPr/>
          <p:nvPr/>
        </p:nvSpPr>
        <p:spPr>
          <a:xfrm>
            <a:off x="8174736" y="198424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741664" y="1938528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and log matching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083296" y="2596896"/>
            <a:ext cx="82296" cy="82296"/>
          </a:xfrm>
          <a:prstGeom prst="ellipse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5" name="Text 33"/>
          <p:cNvSpPr/>
          <p:nvPr/>
        </p:nvSpPr>
        <p:spPr>
          <a:xfrm>
            <a:off x="8247888" y="2487168"/>
            <a:ext cx="2542032" cy="410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messages carry the same business key.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083296" y="3135376"/>
            <a:ext cx="82296" cy="82296"/>
          </a:xfrm>
          <a:prstGeom prst="ellipse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7" name="Text 35"/>
          <p:cNvSpPr/>
          <p:nvPr/>
        </p:nvSpPr>
        <p:spPr>
          <a:xfrm>
            <a:off x="8247888" y="3025648"/>
            <a:ext cx="2542032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and failure logs keep the bookingReference in MDC context.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49808" y="5321808"/>
            <a:ext cx="10515600" cy="658368"/>
          </a:xfrm>
          <a:prstGeom prst="roundRect">
            <a:avLst>
              <a:gd name="adj" fmla="val 25000"/>
            </a:avLst>
          </a:prstGeom>
          <a:solidFill>
            <a:srgbClr val="EEF3F7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9" name="Text 37"/>
          <p:cNvSpPr/>
          <p:nvPr/>
        </p:nvSpPr>
        <p:spPr>
          <a:xfrm>
            <a:off x="969264" y="552297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verification: BookingCorrelationConcurrencyTests confirms unique references, successful persistence, and matching event counts under parallel requests.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Shape 1"/>
          <p:cNvSpPr/>
          <p:nvPr/>
        </p:nvSpPr>
        <p:spPr>
          <a:xfrm>
            <a:off x="530352" y="384048"/>
            <a:ext cx="1261872" cy="274320"/>
          </a:xfrm>
          <a:prstGeom prst="roundRect">
            <a:avLst>
              <a:gd name="adj" fmla="val 4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Text 2"/>
          <p:cNvSpPr/>
          <p:nvPr/>
        </p:nvSpPr>
        <p:spPr>
          <a:xfrm>
            <a:off x="640080" y="39319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9006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66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schedule-service uses two cache layers with explicit invalidation</a:t>
            </a:r>
            <a:endParaRPr lang="en-US" sz="2266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trades a small amount of heap for dramatically faster repeated reads while still bounding stale data risk.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130991" cy="0"/>
          </a:xfrm>
          <a:prstGeom prst="line">
            <a:avLst/>
          </a:prstGeom>
          <a:noFill/>
          <a:ln w="1524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10771632" y="384048"/>
            <a:ext cx="640080" cy="274320"/>
          </a:xfrm>
          <a:prstGeom prst="roundRect">
            <a:avLst>
              <a:gd name="adj" fmla="val 40000"/>
            </a:avLst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Text 7"/>
          <p:cNvSpPr/>
          <p:nvPr/>
        </p:nvSpPr>
        <p:spPr>
          <a:xfrm>
            <a:off x="10881360" y="39319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41148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6373368"/>
            <a:ext cx="11130991" cy="0"/>
          </a:xfrm>
          <a:prstGeom prst="line">
            <a:avLst/>
          </a:prstGeom>
          <a:noFill/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Shape 11"/>
          <p:cNvSpPr/>
          <p:nvPr/>
        </p:nvSpPr>
        <p:spPr>
          <a:xfrm>
            <a:off x="11448288" y="6464808"/>
            <a:ext cx="201168" cy="2011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Shape 12"/>
          <p:cNvSpPr/>
          <p:nvPr/>
        </p:nvSpPr>
        <p:spPr>
          <a:xfrm>
            <a:off x="749808" y="1572768"/>
            <a:ext cx="4846320" cy="449884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3"/>
          <p:cNvSpPr/>
          <p:nvPr/>
        </p:nvSpPr>
        <p:spPr>
          <a:xfrm>
            <a:off x="987552" y="18105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path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87552" y="2154587"/>
            <a:ext cx="4224528" cy="566928"/>
          </a:xfrm>
          <a:prstGeom prst="roundRect">
            <a:avLst>
              <a:gd name="adj" fmla="val 12903"/>
            </a:avLst>
          </a:prstGeom>
          <a:solidFill>
            <a:srgbClr val="3A5A8A">
              <a:alpha val="92000"/>
            </a:srgbClr>
          </a:solidFill>
          <a:ln w="1397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Text 15"/>
          <p:cNvSpPr/>
          <p:nvPr/>
        </p:nvSpPr>
        <p:spPr>
          <a:xfrm>
            <a:off x="1133856" y="2264315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request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578608" y="2246027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catalog or quote search arrives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 rot="5400000">
            <a:off x="2859322" y="2843784"/>
            <a:ext cx="365760" cy="164592"/>
          </a:xfrm>
          <a:prstGeom prst="chevron">
            <a:avLst/>
          </a:prstGeom>
          <a:solidFill>
            <a:srgbClr val="D9D2C7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0" name="Shape 18"/>
          <p:cNvSpPr/>
          <p:nvPr/>
        </p:nvSpPr>
        <p:spPr>
          <a:xfrm>
            <a:off x="987552" y="3123851"/>
            <a:ext cx="4224528" cy="566928"/>
          </a:xfrm>
          <a:prstGeom prst="roundRect">
            <a:avLst>
              <a:gd name="adj" fmla="val 12903"/>
            </a:avLst>
          </a:prstGeom>
          <a:solidFill>
            <a:srgbClr val="F08B4F">
              <a:alpha val="92000"/>
            </a:srgbClr>
          </a:solidFill>
          <a:ln w="1397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Text 19"/>
          <p:cNvSpPr/>
          <p:nvPr/>
        </p:nvSpPr>
        <p:spPr>
          <a:xfrm>
            <a:off x="1133856" y="3233579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cache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323814" y="3215291"/>
            <a:ext cx="25590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CachedQuoteResponseService stores complete quote payloads for 30 seconds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 rot="5400000">
            <a:off x="2859322" y="3814223"/>
            <a:ext cx="365760" cy="164592"/>
          </a:xfrm>
          <a:prstGeom prst="chevron">
            <a:avLst/>
          </a:prstGeom>
          <a:solidFill>
            <a:srgbClr val="D9D2C7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4" name="Shape 22"/>
          <p:cNvSpPr/>
          <p:nvPr/>
        </p:nvSpPr>
        <p:spPr>
          <a:xfrm>
            <a:off x="987552" y="4097686"/>
            <a:ext cx="4224528" cy="566928"/>
          </a:xfrm>
          <a:prstGeom prst="roundRect">
            <a:avLst>
              <a:gd name="adj" fmla="val 12903"/>
            </a:avLst>
          </a:prstGeom>
          <a:solidFill>
            <a:srgbClr val="2A9D8F">
              <a:alpha val="92000"/>
            </a:srgbClr>
          </a:solidFill>
          <a:ln w="1397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5" name="Text 23"/>
          <p:cNvSpPr/>
          <p:nvPr/>
        </p:nvSpPr>
        <p:spPr>
          <a:xfrm>
            <a:off x="1133856" y="420741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cache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255062" y="4189126"/>
            <a:ext cx="26278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Cache with Caffeine keeps route catalog and route definitions for 5 minutes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 rot="5400000">
            <a:off x="2875912" y="4786884"/>
            <a:ext cx="365760" cy="164592"/>
          </a:xfrm>
          <a:prstGeom prst="chevron">
            <a:avLst/>
          </a:prstGeom>
          <a:solidFill>
            <a:srgbClr val="D9D2C7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8" name="Shape 26"/>
          <p:cNvSpPr/>
          <p:nvPr/>
        </p:nvSpPr>
        <p:spPr>
          <a:xfrm>
            <a:off x="987552" y="5097780"/>
            <a:ext cx="4224528" cy="566928"/>
          </a:xfrm>
          <a:prstGeom prst="roundRect">
            <a:avLst>
              <a:gd name="adj" fmla="val 12903"/>
            </a:avLst>
          </a:prstGeom>
          <a:solidFill>
            <a:srgbClr val="1F8A8A">
              <a:alpha val="92000"/>
            </a:srgbClr>
          </a:solidFill>
          <a:ln w="1397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9" name="Text 27"/>
          <p:cNvSpPr/>
          <p:nvPr/>
        </p:nvSpPr>
        <p:spPr>
          <a:xfrm>
            <a:off x="1133856" y="52075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datastore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2255062" y="5189220"/>
            <a:ext cx="26278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path still exists for cache misses and invalidated reads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5833872" y="1572768"/>
            <a:ext cx="5431536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2" name="Shape 30"/>
          <p:cNvSpPr/>
          <p:nvPr/>
        </p:nvSpPr>
        <p:spPr>
          <a:xfrm>
            <a:off x="5833872" y="1572768"/>
            <a:ext cx="128016" cy="2011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3" name="Text 31"/>
          <p:cNvSpPr/>
          <p:nvPr/>
        </p:nvSpPr>
        <p:spPr>
          <a:xfrm>
            <a:off x="6071616" y="1737360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details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71616" y="2212848"/>
            <a:ext cx="82296" cy="822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5" name="Text 33"/>
          <p:cNvSpPr/>
          <p:nvPr/>
        </p:nvSpPr>
        <p:spPr>
          <a:xfrm>
            <a:off x="6236208" y="2103120"/>
            <a:ext cx="4901184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Data-level cache: Spring Cache with Caffeine, capped at 200 entries.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071616" y="2720340"/>
            <a:ext cx="82296" cy="822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7" name="Text 35"/>
          <p:cNvSpPr/>
          <p:nvPr/>
        </p:nvSpPr>
        <p:spPr>
          <a:xfrm>
            <a:off x="6236208" y="2610612"/>
            <a:ext cx="490118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cache: explicit in-memory quote response cache.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071616" y="3028950"/>
            <a:ext cx="82296" cy="822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9" name="Text 37"/>
          <p:cNvSpPr/>
          <p:nvPr/>
        </p:nvSpPr>
        <p:spPr>
          <a:xfrm>
            <a:off x="6236208" y="2919222"/>
            <a:ext cx="4901184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TTLs: 5 minutes for data, 30 seconds for output responses.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5833872" y="3749040"/>
            <a:ext cx="5431536" cy="2322576"/>
          </a:xfrm>
          <a:prstGeom prst="roundRect">
            <a:avLst>
              <a:gd name="adj" fmla="val 7087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1" name="Shape 39"/>
          <p:cNvSpPr/>
          <p:nvPr/>
        </p:nvSpPr>
        <p:spPr>
          <a:xfrm>
            <a:off x="5833872" y="3749040"/>
            <a:ext cx="128016" cy="2322576"/>
          </a:xfrm>
          <a:prstGeom prst="rect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2" name="Text 40"/>
          <p:cNvSpPr/>
          <p:nvPr/>
        </p:nvSpPr>
        <p:spPr>
          <a:xfrm>
            <a:off x="6071616" y="3913632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Invalidation and trade-offs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071616" y="4389120"/>
            <a:ext cx="82296" cy="82296"/>
          </a:xfrm>
          <a:prstGeom prst="ellipse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4" name="Text 42"/>
          <p:cNvSpPr/>
          <p:nvPr/>
        </p:nvSpPr>
        <p:spPr>
          <a:xfrm>
            <a:off x="6236208" y="4279392"/>
            <a:ext cx="4901184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/api/v1/schedules/admin/routes/{routeCode}/fare evicts data cache and clears quote cache.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6071616" y="4896612"/>
            <a:ext cx="82296" cy="82296"/>
          </a:xfrm>
          <a:prstGeom prst="ellipse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6" name="Text 44"/>
          <p:cNvSpPr/>
          <p:nvPr/>
        </p:nvSpPr>
        <p:spPr>
          <a:xfrm>
            <a:off x="6236208" y="4786884"/>
            <a:ext cx="4901184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cache costs more memory than route metadata, but the short TTL bounds stale risk.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6071616" y="5404104"/>
            <a:ext cx="82296" cy="82296"/>
          </a:xfrm>
          <a:prstGeom prst="ellipse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8" name="Text 46"/>
          <p:cNvSpPr/>
          <p:nvPr/>
        </p:nvSpPr>
        <p:spPr>
          <a:xfrm>
            <a:off x="6236208" y="5294376"/>
            <a:ext cx="4901184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SmartBus scales beyond one node, Redis is the next logical step.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Shape 1"/>
          <p:cNvSpPr/>
          <p:nvPr/>
        </p:nvSpPr>
        <p:spPr>
          <a:xfrm>
            <a:off x="530352" y="384048"/>
            <a:ext cx="1261872" cy="274320"/>
          </a:xfrm>
          <a:prstGeom prst="roundRect">
            <a:avLst>
              <a:gd name="adj" fmla="val 4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Text 2"/>
          <p:cNvSpPr/>
          <p:nvPr/>
        </p:nvSpPr>
        <p:spPr>
          <a:xfrm>
            <a:off x="640080" y="39319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10771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tests show cache warm reads drop from about 60 ms to under 1 ms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come from ScheduleCachingTests with simulated datastore latency, not from rough estimates.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130991" cy="0"/>
          </a:xfrm>
          <a:prstGeom prst="line">
            <a:avLst/>
          </a:prstGeom>
          <a:noFill/>
          <a:ln w="1524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10771632" y="384048"/>
            <a:ext cx="640080" cy="274320"/>
          </a:xfrm>
          <a:prstGeom prst="roundRect">
            <a:avLst>
              <a:gd name="adj" fmla="val 40000"/>
            </a:avLst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Text 7"/>
          <p:cNvSpPr/>
          <p:nvPr/>
        </p:nvSpPr>
        <p:spPr>
          <a:xfrm>
            <a:off x="10881360" y="39319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41148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6373368"/>
            <a:ext cx="11130991" cy="0"/>
          </a:xfrm>
          <a:prstGeom prst="line">
            <a:avLst/>
          </a:prstGeom>
          <a:noFill/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Shape 11"/>
          <p:cNvSpPr/>
          <p:nvPr/>
        </p:nvSpPr>
        <p:spPr>
          <a:xfrm>
            <a:off x="11448288" y="6464808"/>
            <a:ext cx="201168" cy="2011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Shape 12"/>
          <p:cNvSpPr/>
          <p:nvPr/>
        </p:nvSpPr>
        <p:spPr>
          <a:xfrm>
            <a:off x="749808" y="1572768"/>
            <a:ext cx="5815584" cy="4517136"/>
          </a:xfrm>
          <a:prstGeom prst="roundRect">
            <a:avLst>
              <a:gd name="adj" fmla="val 3644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graphicFrame>
        <p:nvGraphicFramePr>
          <p:cNvPr id="15" name="Chart 0"/>
          <p:cNvGraphicFramePr/>
          <p:nvPr/>
        </p:nvGraphicFramePr>
        <p:xfrm>
          <a:off x="914400" y="1828800"/>
          <a:ext cx="5486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6821424" y="1572768"/>
            <a:ext cx="4443984" cy="1225296"/>
          </a:xfrm>
          <a:prstGeom prst="roundRect">
            <a:avLst>
              <a:gd name="adj" fmla="val 13433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Shape 14"/>
          <p:cNvSpPr/>
          <p:nvPr/>
        </p:nvSpPr>
        <p:spPr>
          <a:xfrm>
            <a:off x="6821424" y="1572768"/>
            <a:ext cx="128016" cy="122529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Text 15"/>
          <p:cNvSpPr/>
          <p:nvPr/>
        </p:nvSpPr>
        <p:spPr>
          <a:xfrm>
            <a:off x="7040880" y="17190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result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7040880" y="1993392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path: 60-62 ms. Warm path: under 1 ms for both catalog and quote responses.</a:t>
            </a:r>
            <a:endParaRPr lang="en-US" sz="1140" dirty="0"/>
          </a:p>
        </p:txBody>
      </p:sp>
      <p:sp>
        <p:nvSpPr>
          <p:cNvPr id="20" name="Shape 17"/>
          <p:cNvSpPr/>
          <p:nvPr/>
        </p:nvSpPr>
        <p:spPr>
          <a:xfrm>
            <a:off x="6821424" y="2999232"/>
            <a:ext cx="4443984" cy="1225296"/>
          </a:xfrm>
          <a:prstGeom prst="roundRect">
            <a:avLst>
              <a:gd name="adj" fmla="val 13433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Shape 18"/>
          <p:cNvSpPr/>
          <p:nvPr/>
        </p:nvSpPr>
        <p:spPr>
          <a:xfrm>
            <a:off x="6821424" y="2999232"/>
            <a:ext cx="128016" cy="1225296"/>
          </a:xfrm>
          <a:prstGeom prst="rect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Text 19"/>
          <p:cNvSpPr/>
          <p:nvPr/>
        </p:nvSpPr>
        <p:spPr>
          <a:xfrm>
            <a:off x="7040880" y="314553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Invalidation proof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7040880" y="3419856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Fare updates force both caches back through the datastore path and verified SB-101 = 18.75.</a:t>
            </a:r>
            <a:endParaRPr lang="en-US" sz="1140" dirty="0"/>
          </a:p>
        </p:txBody>
      </p:sp>
      <p:sp>
        <p:nvSpPr>
          <p:cNvPr id="24" name="Shape 21"/>
          <p:cNvSpPr/>
          <p:nvPr/>
        </p:nvSpPr>
        <p:spPr>
          <a:xfrm>
            <a:off x="6821424" y="4425696"/>
            <a:ext cx="4443984" cy="1225296"/>
          </a:xfrm>
          <a:prstGeom prst="roundRect">
            <a:avLst>
              <a:gd name="adj" fmla="val 13433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5" name="Shape 22"/>
          <p:cNvSpPr/>
          <p:nvPr/>
        </p:nvSpPr>
        <p:spPr>
          <a:xfrm>
            <a:off x="6821424" y="4425696"/>
            <a:ext cx="128016" cy="1225296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6" name="Text 23"/>
          <p:cNvSpPr/>
          <p:nvPr/>
        </p:nvSpPr>
        <p:spPr>
          <a:xfrm>
            <a:off x="7040880" y="45720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7040880" y="4846320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performance slide gives measurable before/after evidence instead of only a cache design claim.</a:t>
            </a:r>
            <a:endParaRPr lang="en-US" sz="11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Shape 1"/>
          <p:cNvSpPr/>
          <p:nvPr/>
        </p:nvSpPr>
        <p:spPr>
          <a:xfrm>
            <a:off x="530352" y="384048"/>
            <a:ext cx="1261872" cy="274320"/>
          </a:xfrm>
          <a:prstGeom prst="roundRect">
            <a:avLst>
              <a:gd name="adj" fmla="val 40000"/>
            </a:avLst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Text 2"/>
          <p:cNvSpPr/>
          <p:nvPr/>
        </p:nvSpPr>
        <p:spPr>
          <a:xfrm>
            <a:off x="640080" y="39319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10351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integrated boundary is backed by a formal REST or message contract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contracts reduce ambiguity between the frontend, gateway, backend services, and event consumers.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130991" cy="0"/>
          </a:xfrm>
          <a:prstGeom prst="line">
            <a:avLst/>
          </a:prstGeom>
          <a:noFill/>
          <a:ln w="1524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10771632" y="384048"/>
            <a:ext cx="640080" cy="274320"/>
          </a:xfrm>
          <a:prstGeom prst="roundRect">
            <a:avLst>
              <a:gd name="adj" fmla="val 40000"/>
            </a:avLst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Text 7"/>
          <p:cNvSpPr/>
          <p:nvPr/>
        </p:nvSpPr>
        <p:spPr>
          <a:xfrm>
            <a:off x="10881360" y="39319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41148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6373368"/>
            <a:ext cx="11130991" cy="0"/>
          </a:xfrm>
          <a:prstGeom prst="line">
            <a:avLst/>
          </a:prstGeom>
          <a:noFill/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Shape 11"/>
          <p:cNvSpPr/>
          <p:nvPr/>
        </p:nvSpPr>
        <p:spPr>
          <a:xfrm>
            <a:off x="11448288" y="6464808"/>
            <a:ext cx="201168" cy="201168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Shape 12"/>
          <p:cNvSpPr/>
          <p:nvPr/>
        </p:nvSpPr>
        <p:spPr>
          <a:xfrm>
            <a:off x="749808" y="1627632"/>
            <a:ext cx="3401568" cy="859536"/>
          </a:xfrm>
          <a:prstGeom prst="roundRect">
            <a:avLst>
              <a:gd name="adj" fmla="val 19149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Shape 13"/>
          <p:cNvSpPr/>
          <p:nvPr/>
        </p:nvSpPr>
        <p:spPr>
          <a:xfrm>
            <a:off x="749808" y="1627632"/>
            <a:ext cx="128016" cy="859536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6" name="Text 14"/>
          <p:cNvSpPr/>
          <p:nvPr/>
        </p:nvSpPr>
        <p:spPr>
          <a:xfrm>
            <a:off x="950976" y="1755648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gateway.v1.yaml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50976" y="2011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Frontend-facing routes and composed responses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4480560" y="1627632"/>
            <a:ext cx="3401568" cy="859536"/>
          </a:xfrm>
          <a:prstGeom prst="roundRect">
            <a:avLst>
              <a:gd name="adj" fmla="val 19149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Shape 17"/>
          <p:cNvSpPr/>
          <p:nvPr/>
        </p:nvSpPr>
        <p:spPr>
          <a:xfrm>
            <a:off x="4480560" y="1627632"/>
            <a:ext cx="128016" cy="859536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0" name="Text 18"/>
          <p:cNvSpPr/>
          <p:nvPr/>
        </p:nvSpPr>
        <p:spPr>
          <a:xfrm>
            <a:off x="4681728" y="1755648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booking-service.v1.yaml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681728" y="2011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Orchestrated bookings, failures, and state inspection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749808" y="2798064"/>
            <a:ext cx="3401568" cy="859536"/>
          </a:xfrm>
          <a:prstGeom prst="roundRect">
            <a:avLst>
              <a:gd name="adj" fmla="val 19149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Shape 21"/>
          <p:cNvSpPr/>
          <p:nvPr/>
        </p:nvSpPr>
        <p:spPr>
          <a:xfrm>
            <a:off x="749808" y="2798064"/>
            <a:ext cx="128016" cy="85953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4" name="Text 22"/>
          <p:cNvSpPr/>
          <p:nvPr/>
        </p:nvSpPr>
        <p:spPr>
          <a:xfrm>
            <a:off x="950976" y="2926080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schedule-service.v1.yaml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50976" y="31821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Catalog, quote, and admin fare operations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4480560" y="2798064"/>
            <a:ext cx="3401568" cy="859536"/>
          </a:xfrm>
          <a:prstGeom prst="roundRect">
            <a:avLst>
              <a:gd name="adj" fmla="val 19149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7" name="Shape 25"/>
          <p:cNvSpPr/>
          <p:nvPr/>
        </p:nvSpPr>
        <p:spPr>
          <a:xfrm>
            <a:off x="4480560" y="2798064"/>
            <a:ext cx="128016" cy="859536"/>
          </a:xfrm>
          <a:prstGeom prst="rect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8" name="Text 26"/>
          <p:cNvSpPr/>
          <p:nvPr/>
        </p:nvSpPr>
        <p:spPr>
          <a:xfrm>
            <a:off x="4681728" y="2926080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payment-service.v1.yaml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681728" y="31821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boundary for mocked payment flow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749808" y="4206240"/>
            <a:ext cx="3401568" cy="859536"/>
          </a:xfrm>
          <a:prstGeom prst="roundRect">
            <a:avLst>
              <a:gd name="adj" fmla="val 19149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1" name="Shape 29"/>
          <p:cNvSpPr/>
          <p:nvPr/>
        </p:nvSpPr>
        <p:spPr>
          <a:xfrm>
            <a:off x="749808" y="4206240"/>
            <a:ext cx="128016" cy="859536"/>
          </a:xfrm>
          <a:prstGeom prst="rect">
            <a:avLst/>
          </a:prstGeom>
          <a:solidFill>
            <a:srgbClr val="D6654F"/>
          </a:solidFill>
          <a:ln w="12700">
            <a:solidFill>
              <a:srgbClr val="D665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2" name="Text 30"/>
          <p:cNvSpPr/>
          <p:nvPr/>
        </p:nvSpPr>
        <p:spPr>
          <a:xfrm>
            <a:off x="950976" y="433425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notification-service.v1.yaml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50976" y="45902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Deliveries and notification visibility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8211312" y="1627632"/>
            <a:ext cx="3054096" cy="1225296"/>
          </a:xfrm>
          <a:prstGeom prst="roundRect">
            <a:avLst>
              <a:gd name="adj" fmla="val 13433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5" name="Shape 33"/>
          <p:cNvSpPr/>
          <p:nvPr/>
        </p:nvSpPr>
        <p:spPr>
          <a:xfrm>
            <a:off x="8211312" y="1627632"/>
            <a:ext cx="128016" cy="1225296"/>
          </a:xfrm>
          <a:prstGeom prst="rect">
            <a:avLst/>
          </a:prstGeom>
          <a:solidFill>
            <a:srgbClr val="D9B45C"/>
          </a:solidFill>
          <a:ln w="12700">
            <a:solidFill>
              <a:srgbClr val="D9B45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6" name="Text 34"/>
          <p:cNvSpPr/>
          <p:nvPr/>
        </p:nvSpPr>
        <p:spPr>
          <a:xfrm>
            <a:off x="8412480" y="177393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contract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412480" y="202996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contracts/messages/booking-confirmed.v1.json defines the retained booking-confirmed event.</a:t>
            </a:r>
            <a:endParaRPr lang="en-US" sz="1090" dirty="0"/>
          </a:p>
        </p:txBody>
      </p:sp>
      <p:sp>
        <p:nvSpPr>
          <p:cNvPr id="38" name="Shape 36"/>
          <p:cNvSpPr/>
          <p:nvPr/>
        </p:nvSpPr>
        <p:spPr>
          <a:xfrm>
            <a:off x="8211312" y="3090672"/>
            <a:ext cx="3054096" cy="1225296"/>
          </a:xfrm>
          <a:prstGeom prst="roundRect">
            <a:avLst>
              <a:gd name="adj" fmla="val 13433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9" name="Shape 37"/>
          <p:cNvSpPr/>
          <p:nvPr/>
        </p:nvSpPr>
        <p:spPr>
          <a:xfrm>
            <a:off x="8211312" y="3090672"/>
            <a:ext cx="128016" cy="1225296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0" name="Text 38"/>
          <p:cNvSpPr/>
          <p:nvPr/>
        </p:nvSpPr>
        <p:spPr>
          <a:xfrm>
            <a:off x="8412480" y="32369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412480" y="349300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 contracts/validate-openapi.sh plus tests keep the OpenAPI files machine-readable and complete.</a:t>
            </a:r>
            <a:endParaRPr lang="en-US" sz="1090" dirty="0"/>
          </a:p>
        </p:txBody>
      </p:sp>
      <p:sp>
        <p:nvSpPr>
          <p:cNvPr id="42" name="Shape 40"/>
          <p:cNvSpPr/>
          <p:nvPr/>
        </p:nvSpPr>
        <p:spPr>
          <a:xfrm>
            <a:off x="8211312" y="4553712"/>
            <a:ext cx="3054096" cy="1133856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3" name="Shape 41"/>
          <p:cNvSpPr/>
          <p:nvPr/>
        </p:nvSpPr>
        <p:spPr>
          <a:xfrm>
            <a:off x="8211312" y="4553712"/>
            <a:ext cx="128016" cy="1133856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4" name="Text 42"/>
          <p:cNvSpPr/>
          <p:nvPr/>
        </p:nvSpPr>
        <p:spPr>
          <a:xfrm>
            <a:off x="8412480" y="470001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412480" y="495604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Reviewers can verify schemas, examples, and status codes without guessing the boundaries.</a:t>
            </a:r>
            <a:endParaRPr lang="en-US" sz="109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654F"/>
          </a:solidFill>
          <a:ln w="12700">
            <a:solidFill>
              <a:srgbClr val="D665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Shape 1"/>
          <p:cNvSpPr/>
          <p:nvPr/>
        </p:nvSpPr>
        <p:spPr>
          <a:xfrm>
            <a:off x="530352" y="384048"/>
            <a:ext cx="1261872" cy="274320"/>
          </a:xfrm>
          <a:prstGeom prst="roundRect">
            <a:avLst>
              <a:gd name="adj" fmla="val 40000"/>
            </a:avLst>
          </a:prstGeom>
          <a:solidFill>
            <a:srgbClr val="D6654F"/>
          </a:solidFill>
          <a:ln w="12700">
            <a:solidFill>
              <a:srgbClr val="D665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Text 2"/>
          <p:cNvSpPr/>
          <p:nvPr/>
        </p:nvSpPr>
        <p:spPr>
          <a:xfrm>
            <a:off x="640080" y="39319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10552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handling is bounded, observable, and mapped to clear client responses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 are used only for transport-style failures; business rejections remain immediate and explicit.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130991" cy="0"/>
          </a:xfrm>
          <a:prstGeom prst="line">
            <a:avLst/>
          </a:prstGeom>
          <a:noFill/>
          <a:ln w="1524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10771632" y="384048"/>
            <a:ext cx="640080" cy="274320"/>
          </a:xfrm>
          <a:prstGeom prst="roundRect">
            <a:avLst>
              <a:gd name="adj" fmla="val 40000"/>
            </a:avLst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Text 7"/>
          <p:cNvSpPr/>
          <p:nvPr/>
        </p:nvSpPr>
        <p:spPr>
          <a:xfrm>
            <a:off x="10881360" y="39319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41148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6373368"/>
            <a:ext cx="11130991" cy="0"/>
          </a:xfrm>
          <a:prstGeom prst="line">
            <a:avLst/>
          </a:prstGeom>
          <a:noFill/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Shape 11"/>
          <p:cNvSpPr/>
          <p:nvPr/>
        </p:nvSpPr>
        <p:spPr>
          <a:xfrm>
            <a:off x="11448288" y="6464808"/>
            <a:ext cx="201168" cy="201168"/>
          </a:xfrm>
          <a:prstGeom prst="rect">
            <a:avLst/>
          </a:prstGeom>
          <a:solidFill>
            <a:srgbClr val="D6654F"/>
          </a:solidFill>
          <a:ln w="12700">
            <a:solidFill>
              <a:srgbClr val="D665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Shape 12"/>
          <p:cNvSpPr/>
          <p:nvPr/>
        </p:nvSpPr>
        <p:spPr>
          <a:xfrm>
            <a:off x="786384" y="1645920"/>
            <a:ext cx="2377440" cy="749808"/>
          </a:xfrm>
          <a:prstGeom prst="roundRect">
            <a:avLst>
              <a:gd name="adj" fmla="val 21951"/>
            </a:avLst>
          </a:prstGeom>
          <a:solidFill>
            <a:srgbClr val="D6654F"/>
          </a:solidFill>
          <a:ln w="12700">
            <a:solidFill>
              <a:srgbClr val="D665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3"/>
          <p:cNvSpPr/>
          <p:nvPr/>
        </p:nvSpPr>
        <p:spPr>
          <a:xfrm>
            <a:off x="932688" y="1755648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ms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32688" y="199339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threshold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0" y="1645920"/>
            <a:ext cx="2377440" cy="749808"/>
          </a:xfrm>
          <a:prstGeom prst="roundRect">
            <a:avLst>
              <a:gd name="adj" fmla="val 21951"/>
            </a:avLst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Text 16"/>
          <p:cNvSpPr/>
          <p:nvPr/>
        </p:nvSpPr>
        <p:spPr>
          <a:xfrm>
            <a:off x="3621024" y="1755648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attempts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621024" y="199339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retry budget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63056" y="1645920"/>
            <a:ext cx="2377440" cy="749808"/>
          </a:xfrm>
          <a:prstGeom prst="roundRect">
            <a:avLst>
              <a:gd name="adj" fmla="val 21951"/>
            </a:avLst>
          </a:prstGeom>
          <a:solidFill>
            <a:srgbClr val="D9B45C"/>
          </a:solidFill>
          <a:ln w="12700">
            <a:solidFill>
              <a:srgbClr val="D9B45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Text 19"/>
          <p:cNvSpPr/>
          <p:nvPr/>
        </p:nvSpPr>
        <p:spPr>
          <a:xfrm>
            <a:off x="6309360" y="1755648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09360" y="199339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linear backoff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51392" y="1645920"/>
            <a:ext cx="2377440" cy="749808"/>
          </a:xfrm>
          <a:prstGeom prst="roundRect">
            <a:avLst>
              <a:gd name="adj" fmla="val 21951"/>
            </a:avLst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4" name="Text 22"/>
          <p:cNvSpPr/>
          <p:nvPr/>
        </p:nvSpPr>
        <p:spPr>
          <a:xfrm>
            <a:off x="8997696" y="1755648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bookingReference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997696" y="199339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 in retry and failure logs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9808" y="2761488"/>
            <a:ext cx="3255264" cy="3035808"/>
          </a:xfrm>
          <a:prstGeom prst="roundRect">
            <a:avLst>
              <a:gd name="adj" fmla="val 5422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7" name="Shape 25"/>
          <p:cNvSpPr/>
          <p:nvPr/>
        </p:nvSpPr>
        <p:spPr>
          <a:xfrm>
            <a:off x="749808" y="2761488"/>
            <a:ext cx="128016" cy="3035808"/>
          </a:xfrm>
          <a:prstGeom prst="rect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8" name="Text 26"/>
          <p:cNvSpPr/>
          <p:nvPr/>
        </p:nvSpPr>
        <p:spPr>
          <a:xfrm>
            <a:off x="987552" y="2926080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mapping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87552" y="3401568"/>
            <a:ext cx="82296" cy="82296"/>
          </a:xfrm>
          <a:prstGeom prst="ellipse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0" name="Text 28"/>
          <p:cNvSpPr/>
          <p:nvPr/>
        </p:nvSpPr>
        <p:spPr>
          <a:xfrm>
            <a:off x="1152144" y="3291840"/>
            <a:ext cx="272491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rejection -&gt; HTTP 422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987552" y="3710178"/>
            <a:ext cx="82296" cy="82296"/>
          </a:xfrm>
          <a:prstGeom prst="ellipse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2" name="Text 30"/>
          <p:cNvSpPr/>
          <p:nvPr/>
        </p:nvSpPr>
        <p:spPr>
          <a:xfrm>
            <a:off x="1152144" y="3600450"/>
            <a:ext cx="272491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unavailable after retries -&gt; HTTP 503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987552" y="4217670"/>
            <a:ext cx="82296" cy="82296"/>
          </a:xfrm>
          <a:prstGeom prst="ellipse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4" name="Text 32"/>
          <p:cNvSpPr/>
          <p:nvPr/>
        </p:nvSpPr>
        <p:spPr>
          <a:xfrm>
            <a:off x="1152144" y="4107942"/>
            <a:ext cx="272491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timeout after retries -&gt; HTTP 504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987552" y="4725162"/>
            <a:ext cx="82296" cy="82296"/>
          </a:xfrm>
          <a:prstGeom prst="ellipse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6" name="Text 34"/>
          <p:cNvSpPr/>
          <p:nvPr/>
        </p:nvSpPr>
        <p:spPr>
          <a:xfrm>
            <a:off x="1152144" y="4615434"/>
            <a:ext cx="272491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failed booking persists terminal state FAILED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4242816" y="2761488"/>
            <a:ext cx="3255264" cy="3035808"/>
          </a:xfrm>
          <a:prstGeom prst="roundRect">
            <a:avLst>
              <a:gd name="adj" fmla="val 5422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8" name="Shape 36"/>
          <p:cNvSpPr/>
          <p:nvPr/>
        </p:nvSpPr>
        <p:spPr>
          <a:xfrm>
            <a:off x="4242816" y="2761488"/>
            <a:ext cx="128016" cy="3035808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9" name="Text 37"/>
          <p:cNvSpPr/>
          <p:nvPr/>
        </p:nvSpPr>
        <p:spPr>
          <a:xfrm>
            <a:off x="4480560" y="2926080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model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480560" y="3401568"/>
            <a:ext cx="82296" cy="82296"/>
          </a:xfrm>
          <a:prstGeom prst="ellipse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1" name="Text 39"/>
          <p:cNvSpPr/>
          <p:nvPr/>
        </p:nvSpPr>
        <p:spPr>
          <a:xfrm>
            <a:off x="4645152" y="3291840"/>
            <a:ext cx="2724912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PartnerCallExecutor wraps downstream calls in timed CompletableFuture execution.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4480560" y="4107942"/>
            <a:ext cx="82296" cy="82296"/>
          </a:xfrm>
          <a:prstGeom prst="ellipse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3" name="Text 41"/>
          <p:cNvSpPr/>
          <p:nvPr/>
        </p:nvSpPr>
        <p:spPr>
          <a:xfrm>
            <a:off x="4645152" y="3998214"/>
            <a:ext cx="2724912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Transient ResourceAccessException failures retry with bounded backoff.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4480560" y="4814316"/>
            <a:ext cx="82296" cy="82296"/>
          </a:xfrm>
          <a:prstGeom prst="ellipse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5" name="Text 43"/>
          <p:cNvSpPr/>
          <p:nvPr/>
        </p:nvSpPr>
        <p:spPr>
          <a:xfrm>
            <a:off x="4645152" y="4704588"/>
            <a:ext cx="272491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Timeouts prevent orchestration threads from hanging indefinitely.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7735824" y="2761488"/>
            <a:ext cx="3529584" cy="3035808"/>
          </a:xfrm>
          <a:prstGeom prst="roundRect">
            <a:avLst>
              <a:gd name="adj" fmla="val 5422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7" name="Shape 45"/>
          <p:cNvSpPr/>
          <p:nvPr/>
        </p:nvSpPr>
        <p:spPr>
          <a:xfrm>
            <a:off x="7735824" y="2761488"/>
            <a:ext cx="128016" cy="3035808"/>
          </a:xfrm>
          <a:prstGeom prst="rect">
            <a:avLst/>
          </a:prstGeom>
          <a:solidFill>
            <a:srgbClr val="D6654F"/>
          </a:solidFill>
          <a:ln w="12700">
            <a:solidFill>
              <a:srgbClr val="D665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8" name="Text 46"/>
          <p:cNvSpPr/>
          <p:nvPr/>
        </p:nvSpPr>
        <p:spPr>
          <a:xfrm>
            <a:off x="7973568" y="292608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visibility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973568" y="3401568"/>
            <a:ext cx="82296" cy="82296"/>
          </a:xfrm>
          <a:prstGeom prst="ellipse">
            <a:avLst/>
          </a:prstGeom>
          <a:solidFill>
            <a:srgbClr val="D6654F"/>
          </a:solidFill>
          <a:ln w="12700">
            <a:solidFill>
              <a:srgbClr val="D665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50" name="Text 48"/>
          <p:cNvSpPr/>
          <p:nvPr/>
        </p:nvSpPr>
        <p:spPr>
          <a:xfrm>
            <a:off x="8138160" y="3291840"/>
            <a:ext cx="299923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partnerCallStart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7973568" y="3710178"/>
            <a:ext cx="82296" cy="82296"/>
          </a:xfrm>
          <a:prstGeom prst="ellipse">
            <a:avLst/>
          </a:prstGeom>
          <a:solidFill>
            <a:srgbClr val="D6654F"/>
          </a:solidFill>
          <a:ln w="12700">
            <a:solidFill>
              <a:srgbClr val="D665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52" name="Text 50"/>
          <p:cNvSpPr/>
          <p:nvPr/>
        </p:nvSpPr>
        <p:spPr>
          <a:xfrm>
            <a:off x="8138160" y="3600450"/>
            <a:ext cx="299923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partnerCallSuccess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7973568" y="4018788"/>
            <a:ext cx="82296" cy="82296"/>
          </a:xfrm>
          <a:prstGeom prst="ellipse">
            <a:avLst/>
          </a:prstGeom>
          <a:solidFill>
            <a:srgbClr val="D6654F"/>
          </a:solidFill>
          <a:ln w="12700">
            <a:solidFill>
              <a:srgbClr val="D665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54" name="Text 52"/>
          <p:cNvSpPr/>
          <p:nvPr/>
        </p:nvSpPr>
        <p:spPr>
          <a:xfrm>
            <a:off x="8138160" y="3909060"/>
            <a:ext cx="299923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partnerCallRetry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7973568" y="4327398"/>
            <a:ext cx="82296" cy="82296"/>
          </a:xfrm>
          <a:prstGeom prst="ellipse">
            <a:avLst/>
          </a:prstGeom>
          <a:solidFill>
            <a:srgbClr val="D6654F"/>
          </a:solidFill>
          <a:ln w="12700">
            <a:solidFill>
              <a:srgbClr val="D665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56" name="Text 54"/>
          <p:cNvSpPr/>
          <p:nvPr/>
        </p:nvSpPr>
        <p:spPr>
          <a:xfrm>
            <a:off x="8138160" y="4217670"/>
            <a:ext cx="299923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partnerCallFailure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7973568" y="4636008"/>
            <a:ext cx="82296" cy="82296"/>
          </a:xfrm>
          <a:prstGeom prst="ellipse">
            <a:avLst/>
          </a:prstGeom>
          <a:solidFill>
            <a:srgbClr val="D6654F"/>
          </a:solidFill>
          <a:ln w="12700">
            <a:solidFill>
              <a:srgbClr val="D665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58" name="Text 56"/>
          <p:cNvSpPr/>
          <p:nvPr/>
        </p:nvSpPr>
        <p:spPr>
          <a:xfrm>
            <a:off x="8138160" y="4526280"/>
            <a:ext cx="299923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bookingWorkflowFailed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7973568" y="5486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ApiErrorResponse returns service, operation, path, and stable error code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654F"/>
          </a:solidFill>
          <a:ln w="12700">
            <a:solidFill>
              <a:srgbClr val="D665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Shape 1"/>
          <p:cNvSpPr/>
          <p:nvPr/>
        </p:nvSpPr>
        <p:spPr>
          <a:xfrm>
            <a:off x="530352" y="384048"/>
            <a:ext cx="1261872" cy="274320"/>
          </a:xfrm>
          <a:prstGeom prst="roundRect">
            <a:avLst>
              <a:gd name="adj" fmla="val 40000"/>
            </a:avLst>
          </a:prstGeom>
          <a:solidFill>
            <a:srgbClr val="D6654F"/>
          </a:solidFill>
          <a:ln w="12700">
            <a:solidFill>
              <a:srgbClr val="D665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Text 2"/>
          <p:cNvSpPr/>
          <p:nvPr/>
        </p:nvSpPr>
        <p:spPr>
          <a:xfrm>
            <a:off x="640080" y="39319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10168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simulations prove recovery behavior and graceful failure paths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includes concrete scenarios instead of only describing resilience policies in theory.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130991" cy="0"/>
          </a:xfrm>
          <a:prstGeom prst="line">
            <a:avLst/>
          </a:prstGeom>
          <a:noFill/>
          <a:ln w="1524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10771632" y="384048"/>
            <a:ext cx="640080" cy="274320"/>
          </a:xfrm>
          <a:prstGeom prst="roundRect">
            <a:avLst>
              <a:gd name="adj" fmla="val 40000"/>
            </a:avLst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Text 7"/>
          <p:cNvSpPr/>
          <p:nvPr/>
        </p:nvSpPr>
        <p:spPr>
          <a:xfrm>
            <a:off x="10881360" y="39319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41148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6373368"/>
            <a:ext cx="11130991" cy="0"/>
          </a:xfrm>
          <a:prstGeom prst="line">
            <a:avLst/>
          </a:prstGeom>
          <a:noFill/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Shape 11"/>
          <p:cNvSpPr/>
          <p:nvPr/>
        </p:nvSpPr>
        <p:spPr>
          <a:xfrm>
            <a:off x="11448288" y="6464808"/>
            <a:ext cx="201168" cy="201168"/>
          </a:xfrm>
          <a:prstGeom prst="rect">
            <a:avLst/>
          </a:prstGeom>
          <a:solidFill>
            <a:srgbClr val="D6654F"/>
          </a:solidFill>
          <a:ln w="12700">
            <a:solidFill>
              <a:srgbClr val="D665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Shape 12"/>
          <p:cNvSpPr/>
          <p:nvPr/>
        </p:nvSpPr>
        <p:spPr>
          <a:xfrm>
            <a:off x="749808" y="1828800"/>
            <a:ext cx="3163824" cy="3529584"/>
          </a:xfrm>
          <a:prstGeom prst="roundRect">
            <a:avLst>
              <a:gd name="adj" fmla="val 5202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Shape 13"/>
          <p:cNvSpPr/>
          <p:nvPr/>
        </p:nvSpPr>
        <p:spPr>
          <a:xfrm>
            <a:off x="914400" y="1993392"/>
            <a:ext cx="1180618" cy="274320"/>
          </a:xfrm>
          <a:prstGeom prst="roundRect">
            <a:avLst>
              <a:gd name="adj" fmla="val 26667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6" name="Text 14"/>
          <p:cNvSpPr/>
          <p:nvPr/>
        </p:nvSpPr>
        <p:spPr>
          <a:xfrm>
            <a:off x="1006014" y="2023712"/>
            <a:ext cx="93199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43230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Transient notification preparation failure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3127248"/>
            <a:ext cx="82296" cy="822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Text 17"/>
          <p:cNvSpPr/>
          <p:nvPr/>
        </p:nvSpPr>
        <p:spPr>
          <a:xfrm>
            <a:off x="1078992" y="3017520"/>
            <a:ext cx="2560320" cy="39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two attempts fail with ResourceAccessException.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4400" y="3632708"/>
            <a:ext cx="82296" cy="822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Text 19"/>
          <p:cNvSpPr/>
          <p:nvPr/>
        </p:nvSpPr>
        <p:spPr>
          <a:xfrm>
            <a:off x="1078992" y="3522980"/>
            <a:ext cx="2560320" cy="39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attempt succeeds within the retry budget.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4400" y="4138168"/>
            <a:ext cx="82296" cy="822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 21"/>
          <p:cNvSpPr/>
          <p:nvPr/>
        </p:nvSpPr>
        <p:spPr>
          <a:xfrm>
            <a:off x="1078992" y="4028440"/>
            <a:ext cx="2560320" cy="211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still ends in CONFIRMED.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79392" y="1828800"/>
            <a:ext cx="3163824" cy="3529584"/>
          </a:xfrm>
          <a:prstGeom prst="roundRect">
            <a:avLst>
              <a:gd name="adj" fmla="val 5202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5" name="Shape 23"/>
          <p:cNvSpPr/>
          <p:nvPr/>
        </p:nvSpPr>
        <p:spPr>
          <a:xfrm>
            <a:off x="4443984" y="1993392"/>
            <a:ext cx="1273910" cy="256032"/>
          </a:xfrm>
          <a:prstGeom prst="roundRect">
            <a:avLst>
              <a:gd name="adj" fmla="val 26667"/>
            </a:avLst>
          </a:prstGeom>
          <a:solidFill>
            <a:srgbClr val="D6654F"/>
          </a:solidFill>
          <a:ln w="12700">
            <a:solidFill>
              <a:srgbClr val="D665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6" name="Text 24"/>
          <p:cNvSpPr/>
          <p:nvPr/>
        </p:nvSpPr>
        <p:spPr>
          <a:xfrm>
            <a:off x="4608576" y="2070184"/>
            <a:ext cx="921113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43984" y="243230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Schedule-service timeout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443984" y="3127248"/>
            <a:ext cx="82296" cy="82296"/>
          </a:xfrm>
          <a:prstGeom prst="ellipse">
            <a:avLst/>
          </a:prstGeom>
          <a:solidFill>
            <a:srgbClr val="D6654F"/>
          </a:solidFill>
          <a:ln w="12700">
            <a:solidFill>
              <a:srgbClr val="D665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9" name="Text 27"/>
          <p:cNvSpPr/>
          <p:nvPr/>
        </p:nvSpPr>
        <p:spPr>
          <a:xfrm>
            <a:off x="4608576" y="3017520"/>
            <a:ext cx="2560320" cy="39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call delays to 60 ms while timeout is reduced to 20 ms.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443984" y="3632708"/>
            <a:ext cx="82296" cy="82296"/>
          </a:xfrm>
          <a:prstGeom prst="ellipse">
            <a:avLst/>
          </a:prstGeom>
          <a:solidFill>
            <a:srgbClr val="D6654F"/>
          </a:solidFill>
          <a:ln w="12700">
            <a:solidFill>
              <a:srgbClr val="D665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1" name="Text 29"/>
          <p:cNvSpPr/>
          <p:nvPr/>
        </p:nvSpPr>
        <p:spPr>
          <a:xfrm>
            <a:off x="4608576" y="3522980"/>
            <a:ext cx="2560320" cy="39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budget is exhausted after two attempts.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443984" y="4138168"/>
            <a:ext cx="82296" cy="82296"/>
          </a:xfrm>
          <a:prstGeom prst="ellipse">
            <a:avLst/>
          </a:prstGeom>
          <a:solidFill>
            <a:srgbClr val="D6654F"/>
          </a:solidFill>
          <a:ln w="12700">
            <a:solidFill>
              <a:srgbClr val="D665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3" name="Text 31"/>
          <p:cNvSpPr/>
          <p:nvPr/>
        </p:nvSpPr>
        <p:spPr>
          <a:xfrm>
            <a:off x="4608576" y="4028440"/>
            <a:ext cx="2560320" cy="39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maps the failure to 504 and persists FAILED state.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808976" y="1828800"/>
            <a:ext cx="3163824" cy="3529584"/>
          </a:xfrm>
          <a:prstGeom prst="roundRect">
            <a:avLst>
              <a:gd name="adj" fmla="val 5202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5" name="Shape 33"/>
          <p:cNvSpPr/>
          <p:nvPr/>
        </p:nvSpPr>
        <p:spPr>
          <a:xfrm>
            <a:off x="7973567" y="1989328"/>
            <a:ext cx="1158857" cy="278384"/>
          </a:xfrm>
          <a:prstGeom prst="roundRect">
            <a:avLst>
              <a:gd name="adj" fmla="val 26667"/>
            </a:avLst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6" name="Text 34"/>
          <p:cNvSpPr/>
          <p:nvPr/>
        </p:nvSpPr>
        <p:spPr>
          <a:xfrm>
            <a:off x="8121028" y="2082546"/>
            <a:ext cx="863934" cy="102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973568" y="243230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 under fault middleware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973568" y="3127248"/>
            <a:ext cx="82296" cy="82296"/>
          </a:xfrm>
          <a:prstGeom prst="ellipse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9" name="Text 37"/>
          <p:cNvSpPr/>
          <p:nvPr/>
        </p:nvSpPr>
        <p:spPr>
          <a:xfrm>
            <a:off x="8138160" y="3017520"/>
            <a:ext cx="2560320" cy="39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bookingReference values remain unique in parallel tests.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973568" y="3632708"/>
            <a:ext cx="82296" cy="82296"/>
          </a:xfrm>
          <a:prstGeom prst="ellipse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1" name="Text 39"/>
          <p:cNvSpPr/>
          <p:nvPr/>
        </p:nvSpPr>
        <p:spPr>
          <a:xfrm>
            <a:off x="8138160" y="3522980"/>
            <a:ext cx="2560320" cy="39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 bookings still publish matching Kafka events.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973568" y="4138168"/>
            <a:ext cx="82296" cy="82296"/>
          </a:xfrm>
          <a:prstGeom prst="ellipse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3" name="Text 41"/>
          <p:cNvSpPr/>
          <p:nvPr/>
        </p:nvSpPr>
        <p:spPr>
          <a:xfrm>
            <a:off x="8138160" y="4028440"/>
            <a:ext cx="2560320" cy="39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handling does not break correlation isolation.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49808" y="5559552"/>
            <a:ext cx="10515600" cy="420624"/>
          </a:xfrm>
          <a:prstGeom prst="roundRect">
            <a:avLst>
              <a:gd name="adj" fmla="val 39130"/>
            </a:avLst>
          </a:prstGeom>
          <a:solidFill>
            <a:srgbClr val="EEF3F7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5" name="Text 43"/>
          <p:cNvSpPr/>
          <p:nvPr/>
        </p:nvSpPr>
        <p:spPr>
          <a:xfrm>
            <a:off x="969264" y="5687568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 failures stay bounded, client-visible, and recoverable without crashing the orchestration runtime.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Shape 1"/>
          <p:cNvSpPr/>
          <p:nvPr/>
        </p:nvSpPr>
        <p:spPr>
          <a:xfrm>
            <a:off x="530352" y="384048"/>
            <a:ext cx="1261872" cy="274320"/>
          </a:xfrm>
          <a:prstGeom prst="roundRect">
            <a:avLst>
              <a:gd name="adj" fmla="val 40000"/>
            </a:avLst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Text 2"/>
          <p:cNvSpPr/>
          <p:nvPr/>
        </p:nvSpPr>
        <p:spPr>
          <a:xfrm>
            <a:off x="640080" y="39319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9006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23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plan is short, observable, and has a clean fallback path</a:t>
            </a:r>
            <a:endParaRPr lang="en-US" sz="2223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is designed to fit class time while still proving orchestration, state, and asynchronous recovery.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130991" cy="0"/>
          </a:xfrm>
          <a:prstGeom prst="line">
            <a:avLst/>
          </a:prstGeom>
          <a:noFill/>
          <a:ln w="1524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10771632" y="384048"/>
            <a:ext cx="640080" cy="274320"/>
          </a:xfrm>
          <a:prstGeom prst="roundRect">
            <a:avLst>
              <a:gd name="adj" fmla="val 40000"/>
            </a:avLst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Text 7"/>
          <p:cNvSpPr/>
          <p:nvPr/>
        </p:nvSpPr>
        <p:spPr>
          <a:xfrm>
            <a:off x="10881360" y="39319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41148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6373368"/>
            <a:ext cx="11130991" cy="0"/>
          </a:xfrm>
          <a:prstGeom prst="line">
            <a:avLst/>
          </a:prstGeom>
          <a:noFill/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Shape 11"/>
          <p:cNvSpPr/>
          <p:nvPr/>
        </p:nvSpPr>
        <p:spPr>
          <a:xfrm>
            <a:off x="11448288" y="6464808"/>
            <a:ext cx="201168" cy="201168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Shape 12"/>
          <p:cNvSpPr/>
          <p:nvPr/>
        </p:nvSpPr>
        <p:spPr>
          <a:xfrm>
            <a:off x="749808" y="1572768"/>
            <a:ext cx="5833872" cy="4517136"/>
          </a:xfrm>
          <a:prstGeom prst="roundRect">
            <a:avLst>
              <a:gd name="adj" fmla="val 3644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3"/>
          <p:cNvSpPr/>
          <p:nvPr/>
        </p:nvSpPr>
        <p:spPr>
          <a:xfrm>
            <a:off x="987551" y="1810512"/>
            <a:ext cx="28552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live sequence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87552" y="217627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Text 15"/>
          <p:cNvSpPr/>
          <p:nvPr/>
        </p:nvSpPr>
        <p:spPr>
          <a:xfrm>
            <a:off x="1051560" y="224942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26464" y="221284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PostgreSQL and Kafka with docker compose.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987552" y="265176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0" name="Text 18"/>
          <p:cNvSpPr/>
          <p:nvPr/>
        </p:nvSpPr>
        <p:spPr>
          <a:xfrm>
            <a:off x="1051560" y="272491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26464" y="268833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schedule-service, payment-service, and booking-service.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987552" y="31272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 21"/>
          <p:cNvSpPr/>
          <p:nvPr/>
        </p:nvSpPr>
        <p:spPr>
          <a:xfrm>
            <a:off x="1051560" y="32004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26464" y="316382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notification-service offline.</a:t>
            </a:r>
            <a:endParaRPr lang="en-US" sz="1260" dirty="0"/>
          </a:p>
        </p:txBody>
      </p:sp>
      <p:sp>
        <p:nvSpPr>
          <p:cNvPr id="25" name="Shape 23"/>
          <p:cNvSpPr/>
          <p:nvPr/>
        </p:nvSpPr>
        <p:spPr>
          <a:xfrm>
            <a:off x="987552" y="360273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6" name="Text 24"/>
          <p:cNvSpPr/>
          <p:nvPr/>
        </p:nvSpPr>
        <p:spPr>
          <a:xfrm>
            <a:off x="1051560" y="367588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26464" y="363931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an orchestrated booking and capture bookingReference.</a:t>
            </a:r>
            <a:endParaRPr lang="en-US" sz="1260" dirty="0"/>
          </a:p>
        </p:txBody>
      </p:sp>
      <p:sp>
        <p:nvSpPr>
          <p:cNvPr id="28" name="Shape 26"/>
          <p:cNvSpPr/>
          <p:nvPr/>
        </p:nvSpPr>
        <p:spPr>
          <a:xfrm>
            <a:off x="987552" y="407822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9" name="Text 27"/>
          <p:cNvSpPr/>
          <p:nvPr/>
        </p:nvSpPr>
        <p:spPr>
          <a:xfrm>
            <a:off x="1051560" y="415137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426464" y="411480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GET /api/v1/bookings/{bookingReference}/state.</a:t>
            </a:r>
            <a:endParaRPr lang="en-US" sz="1260" dirty="0"/>
          </a:p>
        </p:txBody>
      </p:sp>
      <p:sp>
        <p:nvSpPr>
          <p:cNvPr id="31" name="Shape 29"/>
          <p:cNvSpPr/>
          <p:nvPr/>
        </p:nvSpPr>
        <p:spPr>
          <a:xfrm>
            <a:off x="987552" y="455371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2" name="Text 30"/>
          <p:cNvSpPr/>
          <p:nvPr/>
        </p:nvSpPr>
        <p:spPr>
          <a:xfrm>
            <a:off x="1051560" y="462686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26464" y="459028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notification-service and verify GET /api/v1/notifications/deliveries.</a:t>
            </a:r>
            <a:endParaRPr lang="en-US" sz="1260" dirty="0"/>
          </a:p>
        </p:txBody>
      </p:sp>
      <p:sp>
        <p:nvSpPr>
          <p:cNvPr id="34" name="Shape 32"/>
          <p:cNvSpPr/>
          <p:nvPr/>
        </p:nvSpPr>
        <p:spPr>
          <a:xfrm>
            <a:off x="987552" y="50292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5" name="Text 33"/>
          <p:cNvSpPr/>
          <p:nvPr/>
        </p:nvSpPr>
        <p:spPr>
          <a:xfrm>
            <a:off x="1051560" y="51023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426464" y="506577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time allows, mention cache invalidation or fault evidence.</a:t>
            </a:r>
            <a:endParaRPr lang="en-US" sz="1260" dirty="0"/>
          </a:p>
        </p:txBody>
      </p:sp>
      <p:sp>
        <p:nvSpPr>
          <p:cNvPr id="37" name="Shape 35"/>
          <p:cNvSpPr/>
          <p:nvPr/>
        </p:nvSpPr>
        <p:spPr>
          <a:xfrm>
            <a:off x="6839712" y="1572768"/>
            <a:ext cx="4425696" cy="1901952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8" name="Shape 36"/>
          <p:cNvSpPr/>
          <p:nvPr/>
        </p:nvSpPr>
        <p:spPr>
          <a:xfrm>
            <a:off x="6839712" y="1572768"/>
            <a:ext cx="128016" cy="1901952"/>
          </a:xfrm>
          <a:prstGeom prst="rect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9" name="Text 37"/>
          <p:cNvSpPr/>
          <p:nvPr/>
        </p:nvSpPr>
        <p:spPr>
          <a:xfrm>
            <a:off x="7077456" y="173736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evidence if runtime setup fails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077456" y="2212848"/>
            <a:ext cx="82296" cy="82296"/>
          </a:xfrm>
          <a:prstGeom prst="ellipse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1" name="Text 39"/>
          <p:cNvSpPr/>
          <p:nvPr/>
        </p:nvSpPr>
        <p:spPr>
          <a:xfrm>
            <a:off x="7242048" y="2103120"/>
            <a:ext cx="3895344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architecture, workflow, caching, and fault slides as the main narration path.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7077456" y="2720340"/>
            <a:ext cx="82296" cy="82296"/>
          </a:xfrm>
          <a:prstGeom prst="ellipse">
            <a:avLst/>
          </a:prstGeom>
          <a:solidFill>
            <a:srgbClr val="F08B4F"/>
          </a:solidFill>
          <a:ln w="12700">
            <a:solidFill>
              <a:srgbClr val="F08B4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3" name="Text 41"/>
          <p:cNvSpPr/>
          <p:nvPr/>
        </p:nvSpPr>
        <p:spPr>
          <a:xfrm>
            <a:off x="7242048" y="2610612"/>
            <a:ext cx="3895344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docs/messaging-demo.md and docs/fault-simulations.md for expected logs and outcomes.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6839712" y="3694176"/>
            <a:ext cx="4425696" cy="1225296"/>
          </a:xfrm>
          <a:prstGeom prst="roundRect">
            <a:avLst>
              <a:gd name="adj" fmla="val 13433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5" name="Shape 43"/>
          <p:cNvSpPr/>
          <p:nvPr/>
        </p:nvSpPr>
        <p:spPr>
          <a:xfrm>
            <a:off x="6839712" y="3694176"/>
            <a:ext cx="128016" cy="1225296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6" name="Text 44"/>
          <p:cNvSpPr/>
          <p:nvPr/>
        </p:nvSpPr>
        <p:spPr>
          <a:xfrm>
            <a:off x="7059168" y="3858768"/>
            <a:ext cx="3328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reviewer should remember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7059168" y="41513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SmartBus now demonstrates orchestration, async messaging, correlation, caching, contracts, and resilience in one coherent repository.</a:t>
            </a:r>
            <a:endParaRPr lang="en-US" sz="11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2004</Words>
  <Application>Microsoft Macintosh PowerPoint</Application>
  <PresentationFormat>Widescreen</PresentationFormat>
  <Paragraphs>353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SmartBus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SmartBus Phase 2 Integration</dc:title>
  <dc:subject>CSE 598 Phase II Presentation</dc:subject>
  <dc:creator>Sherzod Omonov</dc:creator>
  <cp:lastModifiedBy>Omonov Sherzod</cp:lastModifiedBy>
  <cp:revision>2</cp:revision>
  <dcterms:created xsi:type="dcterms:W3CDTF">2026-03-18T10:50:28Z</dcterms:created>
  <dcterms:modified xsi:type="dcterms:W3CDTF">2026-03-18T11:08:24Z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2026-03-18T11:08:24Z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05997c43-b3fc-4669-b224-4d728f68f70d</vt:lpwstr>
  </property>
  <property fmtid="{D5CDD505-2E9C-101B-9397-08002B2CF9AE}" pid="7" name="MSIP_Label_defa4170-0d19-0005-0004-bc88714345d2_ActionId">
    <vt:lpwstr>c6ac4dfe-3967-4369-bd1f-fed2447ccc10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